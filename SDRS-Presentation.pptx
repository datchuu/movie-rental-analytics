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5" r:id="rId14"/>
    <p:sldId id="287" r:id="rId15"/>
    <p:sldId id="288" r:id="rId16"/>
    <p:sldId id="286" r:id="rId17"/>
    <p:sldId id="268" r:id="rId18"/>
    <p:sldId id="269" r:id="rId19"/>
    <p:sldId id="293" r:id="rId20"/>
    <p:sldId id="292" r:id="rId21"/>
    <p:sldId id="291" r:id="rId22"/>
    <p:sldId id="297" r:id="rId23"/>
    <p:sldId id="296" r:id="rId24"/>
    <p:sldId id="295" r:id="rId25"/>
    <p:sldId id="294" r:id="rId26"/>
    <p:sldId id="298" r:id="rId27"/>
    <p:sldId id="300" r:id="rId28"/>
    <p:sldId id="302" r:id="rId29"/>
    <p:sldId id="301" r:id="rId30"/>
    <p:sldId id="299" r:id="rId31"/>
    <p:sldId id="305" r:id="rId32"/>
    <p:sldId id="304" r:id="rId33"/>
    <p:sldId id="306" r:id="rId34"/>
    <p:sldId id="303" r:id="rId35"/>
    <p:sldId id="283" r:id="rId36"/>
    <p:sldId id="284"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YUGITH\OneDrive\Desktop\Power%20BI\Movie%20Rental%20Analytics\SDRS-EDA_Questions.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[SDRS-EDA_Questions.xlsx]Question1!PivotTable3</c:name>
    <c:fmtId val="13"/>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Question1!$I$19</c:f>
              <c:strCache>
                <c:ptCount val="1"/>
                <c:pt idx="0">
                  <c:v>Count of Customerid</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Question1!$H$20:$H$21</c:f>
              <c:strCache>
                <c:ptCount val="1"/>
                <c:pt idx="0">
                  <c:v>Repeat</c:v>
                </c:pt>
              </c:strCache>
            </c:strRef>
          </c:cat>
          <c:val>
            <c:numRef>
              <c:f>Question1!$I$20:$I$21</c:f>
              <c:numCache>
                <c:formatCode>General</c:formatCode>
                <c:ptCount val="1"/>
                <c:pt idx="0">
                  <c:v>599</c:v>
                </c:pt>
              </c:numCache>
            </c:numRef>
          </c:val>
          <c:extLst>
            <c:ext xmlns:c16="http://schemas.microsoft.com/office/drawing/2014/chart" uri="{C3380CC4-5D6E-409C-BE32-E72D297353CC}">
              <c16:uniqueId val="{00000000-4A20-40D0-801A-D859EA389AE7}"/>
            </c:ext>
          </c:extLst>
        </c:ser>
        <c:ser>
          <c:idx val="1"/>
          <c:order val="1"/>
          <c:tx>
            <c:strRef>
              <c:f>Question1!$J$19</c:f>
              <c:strCache>
                <c:ptCount val="1"/>
                <c:pt idx="0">
                  <c:v>Sum of Rental_times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Question1!$H$20:$H$21</c:f>
              <c:strCache>
                <c:ptCount val="1"/>
                <c:pt idx="0">
                  <c:v>Repeat</c:v>
                </c:pt>
              </c:strCache>
            </c:strRef>
          </c:cat>
          <c:val>
            <c:numRef>
              <c:f>Question1!$J$20:$J$21</c:f>
              <c:numCache>
                <c:formatCode>General</c:formatCode>
                <c:ptCount val="1"/>
                <c:pt idx="0">
                  <c:v>11491</c:v>
                </c:pt>
              </c:numCache>
            </c:numRef>
          </c:val>
          <c:extLst>
            <c:ext xmlns:c16="http://schemas.microsoft.com/office/drawing/2014/chart" uri="{C3380CC4-5D6E-409C-BE32-E72D297353CC}">
              <c16:uniqueId val="{00000001-4A20-40D0-801A-D859EA389AE7}"/>
            </c:ext>
          </c:extLst>
        </c:ser>
        <c:dLbls>
          <c:showLegendKey val="0"/>
          <c:showVal val="0"/>
          <c:showCatName val="0"/>
          <c:showSerName val="0"/>
          <c:showPercent val="0"/>
          <c:showBubbleSize val="0"/>
        </c:dLbls>
        <c:gapWidth val="100"/>
        <c:overlap val="100"/>
        <c:axId val="716109856"/>
        <c:axId val="716111296"/>
      </c:barChart>
      <c:catAx>
        <c:axId val="71610985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16111296"/>
        <c:crosses val="autoZero"/>
        <c:auto val="1"/>
        <c:lblAlgn val="ctr"/>
        <c:lblOffset val="100"/>
        <c:noMultiLvlLbl val="0"/>
      </c:catAx>
      <c:valAx>
        <c:axId val="71611129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161098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[SDRS-EDA_Questions.xlsx]Question2!PivotTable6</c:name>
    <c:fmtId val="4"/>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9155949256342954E-2"/>
          <c:y val="0.15884040536599592"/>
          <c:w val="0.5951356080489939"/>
          <c:h val="0.40260571595217265"/>
        </c:manualLayout>
      </c:layout>
      <c:barChart>
        <c:barDir val="col"/>
        <c:grouping val="clustered"/>
        <c:varyColors val="0"/>
        <c:ser>
          <c:idx val="0"/>
          <c:order val="0"/>
          <c:tx>
            <c:strRef>
              <c:f>Question2!$H$18</c:f>
              <c:strCache>
                <c:ptCount val="1"/>
                <c:pt idx="0">
                  <c:v>Sum of Rental rate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Question2!$G$19:$G$42</c:f>
              <c:strCache>
                <c:ptCount val="23"/>
                <c:pt idx="0">
                  <c:v>ZORRO ARK</c:v>
                </c:pt>
                <c:pt idx="1">
                  <c:v>WIFE TURN</c:v>
                </c:pt>
                <c:pt idx="2">
                  <c:v>SCALAWAG DUCK</c:v>
                </c:pt>
                <c:pt idx="3">
                  <c:v>BUCKET BROTHERHOOD</c:v>
                </c:pt>
                <c:pt idx="4">
                  <c:v>WITCHES PANIC</c:v>
                </c:pt>
                <c:pt idx="5">
                  <c:v>GOODFELLAS SALUTE</c:v>
                </c:pt>
                <c:pt idx="6">
                  <c:v>APACHE DIVINE</c:v>
                </c:pt>
                <c:pt idx="7">
                  <c:v>MASSACRE USUAL</c:v>
                </c:pt>
                <c:pt idx="8">
                  <c:v>FORWARD TEMPLE</c:v>
                </c:pt>
                <c:pt idx="9">
                  <c:v>NETWORK PEAK</c:v>
                </c:pt>
                <c:pt idx="10">
                  <c:v>SUSPECTS QUILLS</c:v>
                </c:pt>
                <c:pt idx="11">
                  <c:v>IDOLS SNATCHERS</c:v>
                </c:pt>
                <c:pt idx="12">
                  <c:v>ROBBERS JOON</c:v>
                </c:pt>
                <c:pt idx="13">
                  <c:v>BUTTERFLY CHOCOLAT</c:v>
                </c:pt>
                <c:pt idx="14">
                  <c:v>JUGGLER HARDLY</c:v>
                </c:pt>
                <c:pt idx="15">
                  <c:v>RIDGEMONT SUBMARINE</c:v>
                </c:pt>
                <c:pt idx="16">
                  <c:v>GRIT CLOCKWORK</c:v>
                </c:pt>
                <c:pt idx="17">
                  <c:v>TIMBERLAND SKY</c:v>
                </c:pt>
                <c:pt idx="18">
                  <c:v>HOBBIT ALIEN</c:v>
                </c:pt>
                <c:pt idx="19">
                  <c:v>GRAFFITI LOVE</c:v>
                </c:pt>
                <c:pt idx="20">
                  <c:v>RUSH GOODFELLAS</c:v>
                </c:pt>
                <c:pt idx="21">
                  <c:v>ENGLISH BULWORTH</c:v>
                </c:pt>
                <c:pt idx="22">
                  <c:v>ROCKETEER MOTHER</c:v>
                </c:pt>
              </c:strCache>
            </c:strRef>
          </c:cat>
          <c:val>
            <c:numRef>
              <c:f>Question2!$H$19:$H$42</c:f>
              <c:numCache>
                <c:formatCode>General</c:formatCode>
                <c:ptCount val="23"/>
                <c:pt idx="0">
                  <c:v>4.99</c:v>
                </c:pt>
                <c:pt idx="1">
                  <c:v>4.99</c:v>
                </c:pt>
                <c:pt idx="2">
                  <c:v>4.99</c:v>
                </c:pt>
                <c:pt idx="3">
                  <c:v>4.99</c:v>
                </c:pt>
                <c:pt idx="4">
                  <c:v>4.99</c:v>
                </c:pt>
                <c:pt idx="5">
                  <c:v>4.99</c:v>
                </c:pt>
                <c:pt idx="6">
                  <c:v>4.99</c:v>
                </c:pt>
                <c:pt idx="7">
                  <c:v>4.99</c:v>
                </c:pt>
                <c:pt idx="8">
                  <c:v>2.99</c:v>
                </c:pt>
                <c:pt idx="9">
                  <c:v>2.99</c:v>
                </c:pt>
                <c:pt idx="10">
                  <c:v>2.99</c:v>
                </c:pt>
                <c:pt idx="11">
                  <c:v>2.99</c:v>
                </c:pt>
                <c:pt idx="12">
                  <c:v>2.99</c:v>
                </c:pt>
                <c:pt idx="13">
                  <c:v>0.99</c:v>
                </c:pt>
                <c:pt idx="14">
                  <c:v>0.99</c:v>
                </c:pt>
                <c:pt idx="15">
                  <c:v>0.99</c:v>
                </c:pt>
                <c:pt idx="16">
                  <c:v>0.99</c:v>
                </c:pt>
                <c:pt idx="17">
                  <c:v>0.99</c:v>
                </c:pt>
                <c:pt idx="18">
                  <c:v>0.99</c:v>
                </c:pt>
                <c:pt idx="19">
                  <c:v>0.99</c:v>
                </c:pt>
                <c:pt idx="20">
                  <c:v>0.99</c:v>
                </c:pt>
                <c:pt idx="21">
                  <c:v>0.99</c:v>
                </c:pt>
                <c:pt idx="22">
                  <c:v>0.99</c:v>
                </c:pt>
              </c:numCache>
            </c:numRef>
          </c:val>
          <c:extLst>
            <c:ext xmlns:c16="http://schemas.microsoft.com/office/drawing/2014/chart" uri="{C3380CC4-5D6E-409C-BE32-E72D297353CC}">
              <c16:uniqueId val="{00000000-C12C-41B5-A5AB-BAB93933F812}"/>
            </c:ext>
          </c:extLst>
        </c:ser>
        <c:ser>
          <c:idx val="1"/>
          <c:order val="1"/>
          <c:tx>
            <c:strRef>
              <c:f>Question2!$I$18</c:f>
              <c:strCache>
                <c:ptCount val="1"/>
                <c:pt idx="0">
                  <c:v>Sum of Rental times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Question2!$G$19:$G$42</c:f>
              <c:strCache>
                <c:ptCount val="23"/>
                <c:pt idx="0">
                  <c:v>ZORRO ARK</c:v>
                </c:pt>
                <c:pt idx="1">
                  <c:v>WIFE TURN</c:v>
                </c:pt>
                <c:pt idx="2">
                  <c:v>SCALAWAG DUCK</c:v>
                </c:pt>
                <c:pt idx="3">
                  <c:v>BUCKET BROTHERHOOD</c:v>
                </c:pt>
                <c:pt idx="4">
                  <c:v>WITCHES PANIC</c:v>
                </c:pt>
                <c:pt idx="5">
                  <c:v>GOODFELLAS SALUTE</c:v>
                </c:pt>
                <c:pt idx="6">
                  <c:v>APACHE DIVINE</c:v>
                </c:pt>
                <c:pt idx="7">
                  <c:v>MASSACRE USUAL</c:v>
                </c:pt>
                <c:pt idx="8">
                  <c:v>FORWARD TEMPLE</c:v>
                </c:pt>
                <c:pt idx="9">
                  <c:v>NETWORK PEAK</c:v>
                </c:pt>
                <c:pt idx="10">
                  <c:v>SUSPECTS QUILLS</c:v>
                </c:pt>
                <c:pt idx="11">
                  <c:v>IDOLS SNATCHERS</c:v>
                </c:pt>
                <c:pt idx="12">
                  <c:v>ROBBERS JOON</c:v>
                </c:pt>
                <c:pt idx="13">
                  <c:v>BUTTERFLY CHOCOLAT</c:v>
                </c:pt>
                <c:pt idx="14">
                  <c:v>JUGGLER HARDLY</c:v>
                </c:pt>
                <c:pt idx="15">
                  <c:v>RIDGEMONT SUBMARINE</c:v>
                </c:pt>
                <c:pt idx="16">
                  <c:v>GRIT CLOCKWORK</c:v>
                </c:pt>
                <c:pt idx="17">
                  <c:v>TIMBERLAND SKY</c:v>
                </c:pt>
                <c:pt idx="18">
                  <c:v>HOBBIT ALIEN</c:v>
                </c:pt>
                <c:pt idx="19">
                  <c:v>GRAFFITI LOVE</c:v>
                </c:pt>
                <c:pt idx="20">
                  <c:v>RUSH GOODFELLAS</c:v>
                </c:pt>
                <c:pt idx="21">
                  <c:v>ENGLISH BULWORTH</c:v>
                </c:pt>
                <c:pt idx="22">
                  <c:v>ROCKETEER MOTHER</c:v>
                </c:pt>
              </c:strCache>
            </c:strRef>
          </c:cat>
          <c:val>
            <c:numRef>
              <c:f>Question2!$I$19:$I$42</c:f>
              <c:numCache>
                <c:formatCode>General</c:formatCode>
                <c:ptCount val="23"/>
                <c:pt idx="0">
                  <c:v>23</c:v>
                </c:pt>
                <c:pt idx="1">
                  <c:v>23</c:v>
                </c:pt>
                <c:pt idx="2">
                  <c:v>24</c:v>
                </c:pt>
                <c:pt idx="3">
                  <c:v>26</c:v>
                </c:pt>
                <c:pt idx="4">
                  <c:v>23</c:v>
                </c:pt>
                <c:pt idx="5">
                  <c:v>23</c:v>
                </c:pt>
                <c:pt idx="6">
                  <c:v>23</c:v>
                </c:pt>
                <c:pt idx="7">
                  <c:v>23</c:v>
                </c:pt>
                <c:pt idx="8">
                  <c:v>24</c:v>
                </c:pt>
                <c:pt idx="9">
                  <c:v>23</c:v>
                </c:pt>
                <c:pt idx="10">
                  <c:v>23</c:v>
                </c:pt>
                <c:pt idx="11">
                  <c:v>23</c:v>
                </c:pt>
                <c:pt idx="12">
                  <c:v>24</c:v>
                </c:pt>
                <c:pt idx="13">
                  <c:v>23</c:v>
                </c:pt>
                <c:pt idx="14">
                  <c:v>24</c:v>
                </c:pt>
                <c:pt idx="15">
                  <c:v>24</c:v>
                </c:pt>
                <c:pt idx="16">
                  <c:v>24</c:v>
                </c:pt>
                <c:pt idx="17">
                  <c:v>25</c:v>
                </c:pt>
                <c:pt idx="18">
                  <c:v>23</c:v>
                </c:pt>
                <c:pt idx="19">
                  <c:v>23</c:v>
                </c:pt>
                <c:pt idx="20">
                  <c:v>23</c:v>
                </c:pt>
                <c:pt idx="21">
                  <c:v>23</c:v>
                </c:pt>
                <c:pt idx="22">
                  <c:v>25</c:v>
                </c:pt>
              </c:numCache>
            </c:numRef>
          </c:val>
          <c:extLst>
            <c:ext xmlns:c16="http://schemas.microsoft.com/office/drawing/2014/chart" uri="{C3380CC4-5D6E-409C-BE32-E72D297353CC}">
              <c16:uniqueId val="{00000001-C12C-41B5-A5AB-BAB93933F812}"/>
            </c:ext>
          </c:extLst>
        </c:ser>
        <c:dLbls>
          <c:showLegendKey val="0"/>
          <c:showVal val="0"/>
          <c:showCatName val="0"/>
          <c:showSerName val="0"/>
          <c:showPercent val="0"/>
          <c:showBubbleSize val="0"/>
        </c:dLbls>
        <c:gapWidth val="100"/>
        <c:overlap val="-24"/>
        <c:axId val="639182400"/>
        <c:axId val="639184320"/>
      </c:barChart>
      <c:catAx>
        <c:axId val="63918240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39184320"/>
        <c:crosses val="autoZero"/>
        <c:auto val="1"/>
        <c:lblAlgn val="ctr"/>
        <c:lblOffset val="100"/>
        <c:noMultiLvlLbl val="0"/>
      </c:catAx>
      <c:valAx>
        <c:axId val="63918432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391824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Question3!$B$29</c:f>
              <c:strCache>
                <c:ptCount val="1"/>
                <c:pt idx="0">
                  <c:v>Staff_id</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01-4D96-4C66-80C6-B9768378E6A5}"/>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03-4D96-4C66-80C6-B9768378E6A5}"/>
              </c:ext>
            </c:extLst>
          </c:dPt>
          <c:val>
            <c:numRef>
              <c:f>Question3!$B$30:$B$31</c:f>
              <c:numCache>
                <c:formatCode>General</c:formatCode>
                <c:ptCount val="2"/>
                <c:pt idx="0">
                  <c:v>1</c:v>
                </c:pt>
                <c:pt idx="1">
                  <c:v>2</c:v>
                </c:pt>
              </c:numCache>
            </c:numRef>
          </c:val>
          <c:extLst>
            <c:ext xmlns:c16="http://schemas.microsoft.com/office/drawing/2014/chart" uri="{C3380CC4-5D6E-409C-BE32-E72D297353CC}">
              <c16:uniqueId val="{00000004-4D96-4C66-80C6-B9768378E6A5}"/>
            </c:ext>
          </c:extLst>
        </c:ser>
        <c:ser>
          <c:idx val="1"/>
          <c:order val="1"/>
          <c:tx>
            <c:strRef>
              <c:f>Question3!$C$29</c:f>
              <c:strCache>
                <c:ptCount val="1"/>
                <c:pt idx="0">
                  <c:v>Total_rentals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06-4D96-4C66-80C6-B9768378E6A5}"/>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08-4D96-4C66-80C6-B9768378E6A5}"/>
              </c:ext>
            </c:extLst>
          </c:dPt>
          <c:val>
            <c:numRef>
              <c:f>Question3!$C$30:$C$31</c:f>
              <c:numCache>
                <c:formatCode>General</c:formatCode>
                <c:ptCount val="2"/>
                <c:pt idx="0">
                  <c:v>8054</c:v>
                </c:pt>
                <c:pt idx="1">
                  <c:v>7990</c:v>
                </c:pt>
              </c:numCache>
            </c:numRef>
          </c:val>
          <c:extLst>
            <c:ext xmlns:c16="http://schemas.microsoft.com/office/drawing/2014/chart" uri="{C3380CC4-5D6E-409C-BE32-E72D297353CC}">
              <c16:uniqueId val="{00000009-4D96-4C66-80C6-B9768378E6A5}"/>
            </c:ext>
          </c:extLst>
        </c:ser>
        <c:ser>
          <c:idx val="2"/>
          <c:order val="2"/>
          <c:tx>
            <c:strRef>
              <c:f>Question3!$D$29</c:f>
              <c:strCache>
                <c:ptCount val="1"/>
                <c:pt idx="0">
                  <c:v>Total_revenue</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0B-4D96-4C66-80C6-B9768378E6A5}"/>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0D-4D96-4C66-80C6-B9768378E6A5}"/>
              </c:ext>
            </c:extLst>
          </c:dPt>
          <c:val>
            <c:numRef>
              <c:f>Question3!$D$30:$D$31</c:f>
              <c:numCache>
                <c:formatCode>General</c:formatCode>
                <c:ptCount val="2"/>
                <c:pt idx="0">
                  <c:v>33482.5</c:v>
                </c:pt>
                <c:pt idx="1">
                  <c:v>33924.06</c:v>
                </c:pt>
              </c:numCache>
            </c:numRef>
          </c:val>
          <c:extLst>
            <c:ext xmlns:c16="http://schemas.microsoft.com/office/drawing/2014/chart" uri="{C3380CC4-5D6E-409C-BE32-E72D297353CC}">
              <c16:uniqueId val="{0000000E-4D96-4C66-80C6-B9768378E6A5}"/>
            </c:ext>
          </c:extLst>
        </c:ser>
        <c:ser>
          <c:idx val="3"/>
          <c:order val="3"/>
          <c:tx>
            <c:strRef>
              <c:f>Question3!$E$29</c:f>
              <c:strCache>
                <c:ptCount val="1"/>
                <c:pt idx="0">
                  <c:v>Cust_Sat_Count</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10-4D96-4C66-80C6-B9768378E6A5}"/>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12-4D96-4C66-80C6-B9768378E6A5}"/>
              </c:ext>
            </c:extLst>
          </c:dPt>
          <c:val>
            <c:numRef>
              <c:f>Question3!$E$30:$E$31</c:f>
              <c:numCache>
                <c:formatCode>General</c:formatCode>
                <c:ptCount val="2"/>
                <c:pt idx="0">
                  <c:v>5744</c:v>
                </c:pt>
                <c:pt idx="1">
                  <c:v>5747</c:v>
                </c:pt>
              </c:numCache>
            </c:numRef>
          </c:val>
          <c:extLst>
            <c:ext xmlns:c16="http://schemas.microsoft.com/office/drawing/2014/chart" uri="{C3380CC4-5D6E-409C-BE32-E72D297353CC}">
              <c16:uniqueId val="{00000013-4D96-4C66-80C6-B9768378E6A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[SDRS-EDA_Questions.xlsx]Question4!PivotTable5</c:name>
    <c:fmtId val="5"/>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4580927384077"/>
          <c:y val="0.27819006999125112"/>
          <c:w val="0.51486351706036748"/>
          <c:h val="0.52283865558471854"/>
        </c:manualLayout>
      </c:layout>
      <c:lineChart>
        <c:grouping val="standard"/>
        <c:varyColors val="0"/>
        <c:ser>
          <c:idx val="0"/>
          <c:order val="0"/>
          <c:tx>
            <c:strRef>
              <c:f>Question4!$H$24</c:f>
              <c:strCache>
                <c:ptCount val="1"/>
                <c:pt idx="0">
                  <c:v>Sum of Customer Count</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cat>
            <c:strRef>
              <c:f>Question4!$G$25:$G$30</c:f>
              <c:strCache>
                <c:ptCount val="5"/>
                <c:pt idx="0">
                  <c:v>May-05</c:v>
                </c:pt>
                <c:pt idx="1">
                  <c:v>Jun-05</c:v>
                </c:pt>
                <c:pt idx="2">
                  <c:v>Jul-05</c:v>
                </c:pt>
                <c:pt idx="3">
                  <c:v>Aug-05</c:v>
                </c:pt>
                <c:pt idx="4">
                  <c:v>Feb-06</c:v>
                </c:pt>
              </c:strCache>
            </c:strRef>
          </c:cat>
          <c:val>
            <c:numRef>
              <c:f>Question4!$H$25:$H$30</c:f>
              <c:numCache>
                <c:formatCode>General</c:formatCode>
                <c:ptCount val="5"/>
                <c:pt idx="0">
                  <c:v>467</c:v>
                </c:pt>
                <c:pt idx="1">
                  <c:v>936</c:v>
                </c:pt>
                <c:pt idx="2">
                  <c:v>2703</c:v>
                </c:pt>
                <c:pt idx="3">
                  <c:v>2283</c:v>
                </c:pt>
                <c:pt idx="4">
                  <c:v>83</c:v>
                </c:pt>
              </c:numCache>
            </c:numRef>
          </c:val>
          <c:smooth val="0"/>
          <c:extLst>
            <c:ext xmlns:c16="http://schemas.microsoft.com/office/drawing/2014/chart" uri="{C3380CC4-5D6E-409C-BE32-E72D297353CC}">
              <c16:uniqueId val="{00000000-6CE3-473D-8359-F895CD9A4A52}"/>
            </c:ext>
          </c:extLst>
        </c:ser>
        <c:ser>
          <c:idx val="1"/>
          <c:order val="1"/>
          <c:tx>
            <c:strRef>
              <c:f>Question4!$I$24</c:f>
              <c:strCache>
                <c:ptCount val="1"/>
                <c:pt idx="0">
                  <c:v>Sum of Customer Spent2</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cat>
            <c:strRef>
              <c:f>Question4!$G$25:$G$30</c:f>
              <c:strCache>
                <c:ptCount val="5"/>
                <c:pt idx="0">
                  <c:v>May-05</c:v>
                </c:pt>
                <c:pt idx="1">
                  <c:v>Jun-05</c:v>
                </c:pt>
                <c:pt idx="2">
                  <c:v>Jul-05</c:v>
                </c:pt>
                <c:pt idx="3">
                  <c:v>Aug-05</c:v>
                </c:pt>
                <c:pt idx="4">
                  <c:v>Feb-06</c:v>
                </c:pt>
              </c:strCache>
            </c:strRef>
          </c:cat>
          <c:val>
            <c:numRef>
              <c:f>Question4!$I$25:$I$30</c:f>
              <c:numCache>
                <c:formatCode>General</c:formatCode>
                <c:ptCount val="5"/>
                <c:pt idx="0">
                  <c:v>1875.3300000000013</c:v>
                </c:pt>
                <c:pt idx="1">
                  <c:v>3802.6399999999976</c:v>
                </c:pt>
                <c:pt idx="2">
                  <c:v>11330.970000000001</c:v>
                </c:pt>
                <c:pt idx="3">
                  <c:v>9693.17</c:v>
                </c:pt>
                <c:pt idx="4">
                  <c:v>254.1700000000001</c:v>
                </c:pt>
              </c:numCache>
            </c:numRef>
          </c:val>
          <c:smooth val="0"/>
          <c:extLst>
            <c:ext xmlns:c16="http://schemas.microsoft.com/office/drawing/2014/chart" uri="{C3380CC4-5D6E-409C-BE32-E72D297353CC}">
              <c16:uniqueId val="{00000001-6CE3-473D-8359-F895CD9A4A52}"/>
            </c:ext>
          </c:extLst>
        </c:ser>
        <c:dLbls>
          <c:showLegendKey val="0"/>
          <c:showVal val="0"/>
          <c:showCatName val="0"/>
          <c:showSerName val="0"/>
          <c:showPercent val="0"/>
          <c:showBubbleSize val="0"/>
        </c:dLbls>
        <c:marker val="1"/>
        <c:smooth val="0"/>
        <c:axId val="2087451359"/>
        <c:axId val="2087459039"/>
      </c:lineChart>
      <c:catAx>
        <c:axId val="2087451359"/>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087459039"/>
        <c:crosses val="autoZero"/>
        <c:auto val="1"/>
        <c:lblAlgn val="ctr"/>
        <c:lblOffset val="100"/>
        <c:noMultiLvlLbl val="0"/>
      </c:catAx>
      <c:valAx>
        <c:axId val="208745903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0874513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Question5!$D$24</c:f>
              <c:strCache>
                <c:ptCount val="1"/>
                <c:pt idx="0">
                  <c:v>Total Rentals</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multiLvlStrRef>
              <c:f>Question5!$B$25:$C$27</c:f>
              <c:multiLvlStrCache>
                <c:ptCount val="3"/>
                <c:lvl>
                  <c:pt idx="0">
                    <c:v>English</c:v>
                  </c:pt>
                  <c:pt idx="1">
                    <c:v>English</c:v>
                  </c:pt>
                  <c:pt idx="2">
                    <c:v>English</c:v>
                  </c:pt>
                </c:lvl>
                <c:lvl>
                  <c:pt idx="0">
                    <c:v>Medium Value</c:v>
                  </c:pt>
                  <c:pt idx="1">
                    <c:v>High Value</c:v>
                  </c:pt>
                  <c:pt idx="2">
                    <c:v>Low Value</c:v>
                  </c:pt>
                </c:lvl>
              </c:multiLvlStrCache>
            </c:multiLvlStrRef>
          </c:cat>
          <c:val>
            <c:numRef>
              <c:f>Question5!$D$25:$D$27</c:f>
              <c:numCache>
                <c:formatCode>General</c:formatCode>
                <c:ptCount val="3"/>
                <c:pt idx="0">
                  <c:v>5254</c:v>
                </c:pt>
                <c:pt idx="1">
                  <c:v>6211</c:v>
                </c:pt>
                <c:pt idx="2">
                  <c:v>26</c:v>
                </c:pt>
              </c:numCache>
            </c:numRef>
          </c:val>
          <c:smooth val="0"/>
          <c:extLst>
            <c:ext xmlns:c16="http://schemas.microsoft.com/office/drawing/2014/chart" uri="{C3380CC4-5D6E-409C-BE32-E72D297353CC}">
              <c16:uniqueId val="{00000000-69F0-4676-87D3-04F94014AD16}"/>
            </c:ext>
          </c:extLst>
        </c:ser>
        <c:dLbls>
          <c:showLegendKey val="0"/>
          <c:showVal val="0"/>
          <c:showCatName val="0"/>
          <c:showSerName val="0"/>
          <c:showPercent val="0"/>
          <c:showBubbleSize val="0"/>
        </c:dLbls>
        <c:smooth val="0"/>
        <c:axId val="2087433599"/>
        <c:axId val="2087434559"/>
      </c:lineChart>
      <c:catAx>
        <c:axId val="2087433599"/>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087434559"/>
        <c:crosses val="autoZero"/>
        <c:auto val="1"/>
        <c:lblAlgn val="ctr"/>
        <c:lblOffset val="100"/>
        <c:noMultiLvlLbl val="0"/>
      </c:catAx>
      <c:valAx>
        <c:axId val="208743455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0874335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[SDRS-EDA_Questions.xlsx]Question6!PivotTable6</c:name>
    <c:fmtId val="9"/>
  </c:pivotSource>
  <c:chart>
    <c:autoTitleDeleted val="1"/>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4580927384077"/>
          <c:y val="0.2437456255468067"/>
          <c:w val="0.5399735345581802"/>
          <c:h val="0.55728310002916304"/>
        </c:manualLayout>
      </c:layout>
      <c:lineChart>
        <c:grouping val="standard"/>
        <c:varyColors val="0"/>
        <c:ser>
          <c:idx val="0"/>
          <c:order val="0"/>
          <c:tx>
            <c:strRef>
              <c:f>Question6!$H$22</c:f>
              <c:strCache>
                <c:ptCount val="1"/>
                <c:pt idx="0">
                  <c:v>Sum of Rental times</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cat>
            <c:strRef>
              <c:f>Question6!$G$23:$G$26</c:f>
              <c:strCache>
                <c:ptCount val="3"/>
                <c:pt idx="0">
                  <c:v>May-05</c:v>
                </c:pt>
                <c:pt idx="1">
                  <c:v>Jun-05</c:v>
                </c:pt>
                <c:pt idx="2">
                  <c:v>Jul-05</c:v>
                </c:pt>
              </c:strCache>
            </c:strRef>
          </c:cat>
          <c:val>
            <c:numRef>
              <c:f>Question6!$H$23:$H$26</c:f>
              <c:numCache>
                <c:formatCode>General</c:formatCode>
                <c:ptCount val="3"/>
                <c:pt idx="0">
                  <c:v>705</c:v>
                </c:pt>
                <c:pt idx="1">
                  <c:v>1405</c:v>
                </c:pt>
                <c:pt idx="2">
                  <c:v>3905</c:v>
                </c:pt>
              </c:numCache>
            </c:numRef>
          </c:val>
          <c:smooth val="0"/>
          <c:extLst>
            <c:ext xmlns:c16="http://schemas.microsoft.com/office/drawing/2014/chart" uri="{C3380CC4-5D6E-409C-BE32-E72D297353CC}">
              <c16:uniqueId val="{00000000-A38B-4961-B5D4-524708D88405}"/>
            </c:ext>
          </c:extLst>
        </c:ser>
        <c:ser>
          <c:idx val="1"/>
          <c:order val="1"/>
          <c:tx>
            <c:strRef>
              <c:f>Question6!$I$22</c:f>
              <c:strCache>
                <c:ptCount val="1"/>
                <c:pt idx="0">
                  <c:v>Sum of Spent amount</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Question6!$G$23:$G$26</c:f>
              <c:strCache>
                <c:ptCount val="3"/>
                <c:pt idx="0">
                  <c:v>May-05</c:v>
                </c:pt>
                <c:pt idx="1">
                  <c:v>Jun-05</c:v>
                </c:pt>
                <c:pt idx="2">
                  <c:v>Jul-05</c:v>
                </c:pt>
              </c:strCache>
            </c:strRef>
          </c:cat>
          <c:val>
            <c:numRef>
              <c:f>Question6!$I$23:$I$26</c:f>
              <c:numCache>
                <c:formatCode>General</c:formatCode>
                <c:ptCount val="3"/>
                <c:pt idx="0">
                  <c:v>2906.949999999993</c:v>
                </c:pt>
                <c:pt idx="1">
                  <c:v>5829.9499999999907</c:v>
                </c:pt>
                <c:pt idx="2">
                  <c:v>16425.94999999999</c:v>
                </c:pt>
              </c:numCache>
            </c:numRef>
          </c:val>
          <c:smooth val="0"/>
          <c:extLst>
            <c:ext xmlns:c16="http://schemas.microsoft.com/office/drawing/2014/chart" uri="{C3380CC4-5D6E-409C-BE32-E72D297353CC}">
              <c16:uniqueId val="{00000001-A38B-4961-B5D4-524708D88405}"/>
            </c:ext>
          </c:extLst>
        </c:ser>
        <c:dLbls>
          <c:showLegendKey val="0"/>
          <c:showVal val="0"/>
          <c:showCatName val="0"/>
          <c:showSerName val="0"/>
          <c:showPercent val="0"/>
          <c:showBubbleSize val="0"/>
        </c:dLbls>
        <c:marker val="1"/>
        <c:smooth val="0"/>
        <c:axId val="2082810639"/>
        <c:axId val="2082811119"/>
      </c:lineChart>
      <c:catAx>
        <c:axId val="208281063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2082811119"/>
        <c:crosses val="autoZero"/>
        <c:auto val="1"/>
        <c:lblAlgn val="ctr"/>
        <c:lblOffset val="100"/>
        <c:noMultiLvlLbl val="0"/>
      </c:catAx>
      <c:valAx>
        <c:axId val="20828111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208281063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Question8!$D$27</c:f>
              <c:strCache>
                <c:ptCount val="1"/>
                <c:pt idx="0">
                  <c:v>Cust_Sat_Count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multiLvlStrRef>
              <c:f>Question8!$B$28:$C$29</c:f>
              <c:multiLvlStrCache>
                <c:ptCount val="2"/>
                <c:lvl>
                  <c:pt idx="0">
                    <c:v>High Workload</c:v>
                  </c:pt>
                  <c:pt idx="1">
                    <c:v>High Workload</c:v>
                  </c:pt>
                </c:lvl>
                <c:lvl>
                  <c:pt idx="0">
                    <c:v>1</c:v>
                  </c:pt>
                  <c:pt idx="1">
                    <c:v>2</c:v>
                  </c:pt>
                </c:lvl>
              </c:multiLvlStrCache>
            </c:multiLvlStrRef>
          </c:cat>
          <c:val>
            <c:numRef>
              <c:f>Question8!$D$28:$D$29</c:f>
              <c:numCache>
                <c:formatCode>General</c:formatCode>
                <c:ptCount val="2"/>
                <c:pt idx="0">
                  <c:v>5744</c:v>
                </c:pt>
                <c:pt idx="1">
                  <c:v>5747</c:v>
                </c:pt>
              </c:numCache>
            </c:numRef>
          </c:val>
          <c:extLst>
            <c:ext xmlns:c16="http://schemas.microsoft.com/office/drawing/2014/chart" uri="{C3380CC4-5D6E-409C-BE32-E72D297353CC}">
              <c16:uniqueId val="{00000000-F1D1-40F5-89FF-49A9535DAC90}"/>
            </c:ext>
          </c:extLst>
        </c:ser>
        <c:dLbls>
          <c:showLegendKey val="0"/>
          <c:showVal val="0"/>
          <c:showCatName val="0"/>
          <c:showSerName val="0"/>
          <c:showPercent val="0"/>
          <c:showBubbleSize val="0"/>
        </c:dLbls>
        <c:gapWidth val="100"/>
        <c:overlap val="-24"/>
        <c:axId val="1983583088"/>
        <c:axId val="1983585008"/>
      </c:barChart>
      <c:catAx>
        <c:axId val="198358308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83585008"/>
        <c:crosses val="autoZero"/>
        <c:auto val="1"/>
        <c:lblAlgn val="ctr"/>
        <c:lblOffset val="100"/>
        <c:noMultiLvlLbl val="0"/>
      </c:catAx>
      <c:valAx>
        <c:axId val="198358500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835830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[SDRS-EDA_Questions.xlsx]Question11!PivotTable15</c:name>
    <c:fmtId val="7"/>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High Spend Customer Analysis</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Question11!$H$40:$H$41</c:f>
              <c:strCache>
                <c:ptCount val="1"/>
                <c:pt idx="0">
                  <c:v>Action</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Question11!$H$42:$H$47</c:f>
              <c:numCache>
                <c:formatCode>General</c:formatCode>
                <c:ptCount val="5"/>
                <c:pt idx="0">
                  <c:v>3</c:v>
                </c:pt>
                <c:pt idx="2">
                  <c:v>4</c:v>
                </c:pt>
                <c:pt idx="3">
                  <c:v>4</c:v>
                </c:pt>
                <c:pt idx="4">
                  <c:v>2</c:v>
                </c:pt>
              </c:numCache>
            </c:numRef>
          </c:val>
          <c:extLst>
            <c:ext xmlns:c16="http://schemas.microsoft.com/office/drawing/2014/chart" uri="{C3380CC4-5D6E-409C-BE32-E72D297353CC}">
              <c16:uniqueId val="{00000000-9B37-4B2E-B585-9E8A2312F674}"/>
            </c:ext>
          </c:extLst>
        </c:ser>
        <c:ser>
          <c:idx val="1"/>
          <c:order val="1"/>
          <c:tx>
            <c:strRef>
              <c:f>Question11!$I$40:$I$41</c:f>
              <c:strCache>
                <c:ptCount val="1"/>
                <c:pt idx="0">
                  <c:v>Animation</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Question11!$I$42:$I$47</c:f>
              <c:numCache>
                <c:formatCode>General</c:formatCode>
                <c:ptCount val="5"/>
                <c:pt idx="0">
                  <c:v>2</c:v>
                </c:pt>
                <c:pt idx="1">
                  <c:v>6</c:v>
                </c:pt>
                <c:pt idx="2">
                  <c:v>4</c:v>
                </c:pt>
                <c:pt idx="3">
                  <c:v>6</c:v>
                </c:pt>
              </c:numCache>
            </c:numRef>
          </c:val>
          <c:extLst>
            <c:ext xmlns:c16="http://schemas.microsoft.com/office/drawing/2014/chart" uri="{C3380CC4-5D6E-409C-BE32-E72D297353CC}">
              <c16:uniqueId val="{00000001-9B37-4B2E-B585-9E8A2312F674}"/>
            </c:ext>
          </c:extLst>
        </c:ser>
        <c:ser>
          <c:idx val="2"/>
          <c:order val="2"/>
          <c:tx>
            <c:strRef>
              <c:f>Question11!$J$40:$J$41</c:f>
              <c:strCache>
                <c:ptCount val="1"/>
                <c:pt idx="0">
                  <c:v>Children</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Question11!$J$42:$J$47</c:f>
              <c:numCache>
                <c:formatCode>General</c:formatCode>
                <c:ptCount val="5"/>
                <c:pt idx="0">
                  <c:v>2</c:v>
                </c:pt>
                <c:pt idx="1">
                  <c:v>6</c:v>
                </c:pt>
                <c:pt idx="2">
                  <c:v>2</c:v>
                </c:pt>
                <c:pt idx="3">
                  <c:v>6</c:v>
                </c:pt>
              </c:numCache>
            </c:numRef>
          </c:val>
          <c:extLst>
            <c:ext xmlns:c16="http://schemas.microsoft.com/office/drawing/2014/chart" uri="{C3380CC4-5D6E-409C-BE32-E72D297353CC}">
              <c16:uniqueId val="{00000002-9B37-4B2E-B585-9E8A2312F674}"/>
            </c:ext>
          </c:extLst>
        </c:ser>
        <c:ser>
          <c:idx val="3"/>
          <c:order val="3"/>
          <c:tx>
            <c:strRef>
              <c:f>Question11!$K$40:$K$41</c:f>
              <c:strCache>
                <c:ptCount val="1"/>
                <c:pt idx="0">
                  <c:v>Classics</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Question11!$K$42:$K$47</c:f>
              <c:numCache>
                <c:formatCode>General</c:formatCode>
                <c:ptCount val="5"/>
                <c:pt idx="0">
                  <c:v>4</c:v>
                </c:pt>
                <c:pt idx="1">
                  <c:v>2</c:v>
                </c:pt>
                <c:pt idx="3">
                  <c:v>2</c:v>
                </c:pt>
                <c:pt idx="4">
                  <c:v>3</c:v>
                </c:pt>
              </c:numCache>
            </c:numRef>
          </c:val>
          <c:extLst>
            <c:ext xmlns:c16="http://schemas.microsoft.com/office/drawing/2014/chart" uri="{C3380CC4-5D6E-409C-BE32-E72D297353CC}">
              <c16:uniqueId val="{00000003-9B37-4B2E-B585-9E8A2312F674}"/>
            </c:ext>
          </c:extLst>
        </c:ser>
        <c:ser>
          <c:idx val="4"/>
          <c:order val="4"/>
          <c:tx>
            <c:strRef>
              <c:f>Question11!$L$40:$L$41</c:f>
              <c:strCache>
                <c:ptCount val="1"/>
                <c:pt idx="0">
                  <c:v>Comedy</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Question11!$L$42:$L$47</c:f>
              <c:numCache>
                <c:formatCode>General</c:formatCode>
                <c:ptCount val="5"/>
                <c:pt idx="0">
                  <c:v>3</c:v>
                </c:pt>
                <c:pt idx="2">
                  <c:v>6</c:v>
                </c:pt>
                <c:pt idx="3">
                  <c:v>2</c:v>
                </c:pt>
                <c:pt idx="4">
                  <c:v>2</c:v>
                </c:pt>
              </c:numCache>
            </c:numRef>
          </c:val>
          <c:extLst>
            <c:ext xmlns:c16="http://schemas.microsoft.com/office/drawing/2014/chart" uri="{C3380CC4-5D6E-409C-BE32-E72D297353CC}">
              <c16:uniqueId val="{00000004-9B37-4B2E-B585-9E8A2312F674}"/>
            </c:ext>
          </c:extLst>
        </c:ser>
        <c:ser>
          <c:idx val="5"/>
          <c:order val="5"/>
          <c:tx>
            <c:strRef>
              <c:f>Question11!$M$40:$M$41</c:f>
              <c:strCache>
                <c:ptCount val="1"/>
                <c:pt idx="0">
                  <c:v>Documentary</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Question11!$M$42:$M$47</c:f>
              <c:numCache>
                <c:formatCode>General</c:formatCode>
                <c:ptCount val="5"/>
                <c:pt idx="1">
                  <c:v>6</c:v>
                </c:pt>
                <c:pt idx="4">
                  <c:v>3</c:v>
                </c:pt>
              </c:numCache>
            </c:numRef>
          </c:val>
          <c:extLst>
            <c:ext xmlns:c16="http://schemas.microsoft.com/office/drawing/2014/chart" uri="{C3380CC4-5D6E-409C-BE32-E72D297353CC}">
              <c16:uniqueId val="{00000005-9B37-4B2E-B585-9E8A2312F674}"/>
            </c:ext>
          </c:extLst>
        </c:ser>
        <c:ser>
          <c:idx val="6"/>
          <c:order val="6"/>
          <c:tx>
            <c:strRef>
              <c:f>Question11!$N$40:$N$41</c:f>
              <c:strCache>
                <c:ptCount val="1"/>
                <c:pt idx="0">
                  <c:v>Drama</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Question11!$N$42:$N$47</c:f>
              <c:numCache>
                <c:formatCode>General</c:formatCode>
                <c:ptCount val="5"/>
                <c:pt idx="0">
                  <c:v>3</c:v>
                </c:pt>
                <c:pt idx="1">
                  <c:v>8</c:v>
                </c:pt>
                <c:pt idx="2">
                  <c:v>2</c:v>
                </c:pt>
              </c:numCache>
            </c:numRef>
          </c:val>
          <c:extLst>
            <c:ext xmlns:c16="http://schemas.microsoft.com/office/drawing/2014/chart" uri="{C3380CC4-5D6E-409C-BE32-E72D297353CC}">
              <c16:uniqueId val="{00000006-9B37-4B2E-B585-9E8A2312F674}"/>
            </c:ext>
          </c:extLst>
        </c:ser>
        <c:ser>
          <c:idx val="7"/>
          <c:order val="7"/>
          <c:tx>
            <c:strRef>
              <c:f>Question11!$O$40:$O$41</c:f>
              <c:strCache>
                <c:ptCount val="1"/>
                <c:pt idx="0">
                  <c:v>Family</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Question11!$O$42:$O$47</c:f>
              <c:numCache>
                <c:formatCode>General</c:formatCode>
                <c:ptCount val="5"/>
                <c:pt idx="0">
                  <c:v>1</c:v>
                </c:pt>
                <c:pt idx="1">
                  <c:v>4</c:v>
                </c:pt>
                <c:pt idx="3">
                  <c:v>8</c:v>
                </c:pt>
                <c:pt idx="4">
                  <c:v>3</c:v>
                </c:pt>
              </c:numCache>
            </c:numRef>
          </c:val>
          <c:extLst>
            <c:ext xmlns:c16="http://schemas.microsoft.com/office/drawing/2014/chart" uri="{C3380CC4-5D6E-409C-BE32-E72D297353CC}">
              <c16:uniqueId val="{00000007-9B37-4B2E-B585-9E8A2312F674}"/>
            </c:ext>
          </c:extLst>
        </c:ser>
        <c:ser>
          <c:idx val="8"/>
          <c:order val="8"/>
          <c:tx>
            <c:strRef>
              <c:f>Question11!$P$40:$P$41</c:f>
              <c:strCache>
                <c:ptCount val="1"/>
                <c:pt idx="0">
                  <c:v>Foreign</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Question11!$P$42:$P$47</c:f>
              <c:numCache>
                <c:formatCode>General</c:formatCode>
                <c:ptCount val="5"/>
                <c:pt idx="0">
                  <c:v>1</c:v>
                </c:pt>
                <c:pt idx="1">
                  <c:v>2</c:v>
                </c:pt>
                <c:pt idx="2">
                  <c:v>4</c:v>
                </c:pt>
                <c:pt idx="3">
                  <c:v>6</c:v>
                </c:pt>
                <c:pt idx="4">
                  <c:v>2</c:v>
                </c:pt>
              </c:numCache>
            </c:numRef>
          </c:val>
          <c:extLst>
            <c:ext xmlns:c16="http://schemas.microsoft.com/office/drawing/2014/chart" uri="{C3380CC4-5D6E-409C-BE32-E72D297353CC}">
              <c16:uniqueId val="{00000008-9B37-4B2E-B585-9E8A2312F674}"/>
            </c:ext>
          </c:extLst>
        </c:ser>
        <c:ser>
          <c:idx val="9"/>
          <c:order val="9"/>
          <c:tx>
            <c:strRef>
              <c:f>Question11!$Q$40:$Q$41</c:f>
              <c:strCache>
                <c:ptCount val="1"/>
                <c:pt idx="0">
                  <c:v>Games</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Question11!$Q$42:$Q$47</c:f>
              <c:numCache>
                <c:formatCode>General</c:formatCode>
                <c:ptCount val="5"/>
                <c:pt idx="0">
                  <c:v>3</c:v>
                </c:pt>
                <c:pt idx="2">
                  <c:v>8</c:v>
                </c:pt>
                <c:pt idx="3">
                  <c:v>8</c:v>
                </c:pt>
                <c:pt idx="4">
                  <c:v>3</c:v>
                </c:pt>
              </c:numCache>
            </c:numRef>
          </c:val>
          <c:extLst>
            <c:ext xmlns:c16="http://schemas.microsoft.com/office/drawing/2014/chart" uri="{C3380CC4-5D6E-409C-BE32-E72D297353CC}">
              <c16:uniqueId val="{00000009-9B37-4B2E-B585-9E8A2312F674}"/>
            </c:ext>
          </c:extLst>
        </c:ser>
        <c:ser>
          <c:idx val="10"/>
          <c:order val="10"/>
          <c:tx>
            <c:strRef>
              <c:f>Question11!$R$40:$R$41</c:f>
              <c:strCache>
                <c:ptCount val="1"/>
                <c:pt idx="0">
                  <c:v>Horror</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Question11!$R$42:$R$47</c:f>
              <c:numCache>
                <c:formatCode>General</c:formatCode>
                <c:ptCount val="5"/>
                <c:pt idx="0">
                  <c:v>1</c:v>
                </c:pt>
                <c:pt idx="1">
                  <c:v>4</c:v>
                </c:pt>
                <c:pt idx="2">
                  <c:v>4</c:v>
                </c:pt>
                <c:pt idx="3">
                  <c:v>2</c:v>
                </c:pt>
                <c:pt idx="4">
                  <c:v>4</c:v>
                </c:pt>
              </c:numCache>
            </c:numRef>
          </c:val>
          <c:extLst>
            <c:ext xmlns:c16="http://schemas.microsoft.com/office/drawing/2014/chart" uri="{C3380CC4-5D6E-409C-BE32-E72D297353CC}">
              <c16:uniqueId val="{0000000A-9B37-4B2E-B585-9E8A2312F674}"/>
            </c:ext>
          </c:extLst>
        </c:ser>
        <c:ser>
          <c:idx val="11"/>
          <c:order val="11"/>
          <c:tx>
            <c:strRef>
              <c:f>Question11!$S$40:$S$41</c:f>
              <c:strCache>
                <c:ptCount val="1"/>
                <c:pt idx="0">
                  <c:v>Music</c:v>
                </c:pt>
              </c:strCache>
            </c:strRef>
          </c:tx>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Question11!$S$42:$S$47</c:f>
              <c:numCache>
                <c:formatCode>General</c:formatCode>
                <c:ptCount val="5"/>
                <c:pt idx="0">
                  <c:v>2</c:v>
                </c:pt>
                <c:pt idx="2">
                  <c:v>4</c:v>
                </c:pt>
                <c:pt idx="3">
                  <c:v>2</c:v>
                </c:pt>
              </c:numCache>
            </c:numRef>
          </c:val>
          <c:extLst>
            <c:ext xmlns:c16="http://schemas.microsoft.com/office/drawing/2014/chart" uri="{C3380CC4-5D6E-409C-BE32-E72D297353CC}">
              <c16:uniqueId val="{0000000B-9B37-4B2E-B585-9E8A2312F674}"/>
            </c:ext>
          </c:extLst>
        </c:ser>
        <c:ser>
          <c:idx val="12"/>
          <c:order val="12"/>
          <c:tx>
            <c:strRef>
              <c:f>Question11!$T$40:$T$41</c:f>
              <c:strCache>
                <c:ptCount val="1"/>
                <c:pt idx="0">
                  <c:v>New</c:v>
                </c:pt>
              </c:strCache>
            </c:strRef>
          </c:tx>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Question11!$T$42:$T$47</c:f>
              <c:numCache>
                <c:formatCode>General</c:formatCode>
                <c:ptCount val="5"/>
                <c:pt idx="0">
                  <c:v>3</c:v>
                </c:pt>
                <c:pt idx="1">
                  <c:v>2</c:v>
                </c:pt>
                <c:pt idx="2">
                  <c:v>2</c:v>
                </c:pt>
                <c:pt idx="3">
                  <c:v>6</c:v>
                </c:pt>
              </c:numCache>
            </c:numRef>
          </c:val>
          <c:extLst>
            <c:ext xmlns:c16="http://schemas.microsoft.com/office/drawing/2014/chart" uri="{C3380CC4-5D6E-409C-BE32-E72D297353CC}">
              <c16:uniqueId val="{0000000C-9B37-4B2E-B585-9E8A2312F674}"/>
            </c:ext>
          </c:extLst>
        </c:ser>
        <c:ser>
          <c:idx val="13"/>
          <c:order val="13"/>
          <c:tx>
            <c:strRef>
              <c:f>Question11!$U$40:$U$41</c:f>
              <c:strCache>
                <c:ptCount val="1"/>
                <c:pt idx="0">
                  <c:v>Sci-Fi</c:v>
                </c:pt>
              </c:strCache>
            </c:strRef>
          </c:tx>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Question11!$U$42:$U$47</c:f>
              <c:numCache>
                <c:formatCode>General</c:formatCode>
                <c:ptCount val="5"/>
                <c:pt idx="1">
                  <c:v>4</c:v>
                </c:pt>
                <c:pt idx="2">
                  <c:v>2</c:v>
                </c:pt>
                <c:pt idx="3">
                  <c:v>4</c:v>
                </c:pt>
                <c:pt idx="4">
                  <c:v>5</c:v>
                </c:pt>
              </c:numCache>
            </c:numRef>
          </c:val>
          <c:extLst>
            <c:ext xmlns:c16="http://schemas.microsoft.com/office/drawing/2014/chart" uri="{C3380CC4-5D6E-409C-BE32-E72D297353CC}">
              <c16:uniqueId val="{0000000D-9B37-4B2E-B585-9E8A2312F674}"/>
            </c:ext>
          </c:extLst>
        </c:ser>
        <c:ser>
          <c:idx val="14"/>
          <c:order val="14"/>
          <c:tx>
            <c:strRef>
              <c:f>Question11!$V$40:$V$41</c:f>
              <c:strCache>
                <c:ptCount val="1"/>
                <c:pt idx="0">
                  <c:v>Sports</c:v>
                </c:pt>
              </c:strCache>
            </c:strRef>
          </c:tx>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Question11!$V$42:$V$47</c:f>
              <c:numCache>
                <c:formatCode>General</c:formatCode>
                <c:ptCount val="5"/>
                <c:pt idx="0">
                  <c:v>2</c:v>
                </c:pt>
                <c:pt idx="1">
                  <c:v>6</c:v>
                </c:pt>
                <c:pt idx="2">
                  <c:v>6</c:v>
                </c:pt>
                <c:pt idx="3">
                  <c:v>6</c:v>
                </c:pt>
              </c:numCache>
            </c:numRef>
          </c:val>
          <c:extLst>
            <c:ext xmlns:c16="http://schemas.microsoft.com/office/drawing/2014/chart" uri="{C3380CC4-5D6E-409C-BE32-E72D297353CC}">
              <c16:uniqueId val="{0000000E-9B37-4B2E-B585-9E8A2312F674}"/>
            </c:ext>
          </c:extLst>
        </c:ser>
        <c:ser>
          <c:idx val="15"/>
          <c:order val="15"/>
          <c:tx>
            <c:strRef>
              <c:f>Question11!$W$40:$W$41</c:f>
              <c:strCache>
                <c:ptCount val="1"/>
                <c:pt idx="0">
                  <c:v>Travel</c:v>
                </c:pt>
              </c:strCache>
            </c:strRef>
          </c:tx>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Question11!$G$42:$G$47</c:f>
              <c:strCache>
                <c:ptCount val="5"/>
                <c:pt idx="0">
                  <c:v>Belarus</c:v>
                </c:pt>
                <c:pt idx="1">
                  <c:v>Brazil</c:v>
                </c:pt>
                <c:pt idx="2">
                  <c:v>Netherlands</c:v>
                </c:pt>
                <c:pt idx="3">
                  <c:v>Philippines</c:v>
                </c:pt>
                <c:pt idx="4">
                  <c:v>Réunio</c:v>
                </c:pt>
              </c:strCache>
            </c:strRef>
          </c:cat>
          <c:val>
            <c:numRef>
              <c:f>Question11!$W$42:$W$47</c:f>
              <c:numCache>
                <c:formatCode>General</c:formatCode>
                <c:ptCount val="5"/>
                <c:pt idx="0">
                  <c:v>2</c:v>
                </c:pt>
                <c:pt idx="1">
                  <c:v>8</c:v>
                </c:pt>
                <c:pt idx="2">
                  <c:v>8</c:v>
                </c:pt>
                <c:pt idx="3">
                  <c:v>4</c:v>
                </c:pt>
                <c:pt idx="4">
                  <c:v>3</c:v>
                </c:pt>
              </c:numCache>
            </c:numRef>
          </c:val>
          <c:extLst>
            <c:ext xmlns:c16="http://schemas.microsoft.com/office/drawing/2014/chart" uri="{C3380CC4-5D6E-409C-BE32-E72D297353CC}">
              <c16:uniqueId val="{0000000F-9B37-4B2E-B585-9E8A2312F674}"/>
            </c:ext>
          </c:extLst>
        </c:ser>
        <c:dLbls>
          <c:showLegendKey val="0"/>
          <c:showVal val="0"/>
          <c:showCatName val="0"/>
          <c:showSerName val="0"/>
          <c:showPercent val="0"/>
          <c:showBubbleSize val="0"/>
        </c:dLbls>
        <c:gapWidth val="100"/>
        <c:overlap val="-24"/>
        <c:axId val="1887024352"/>
        <c:axId val="1887008992"/>
      </c:barChart>
      <c:catAx>
        <c:axId val="188702435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87008992"/>
        <c:crosses val="autoZero"/>
        <c:auto val="1"/>
        <c:lblAlgn val="ctr"/>
        <c:lblOffset val="100"/>
        <c:noMultiLvlLbl val="0"/>
      </c:catAx>
      <c:valAx>
        <c:axId val="188700899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8702435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Question12!$C$37</c:f>
              <c:strCache>
                <c:ptCount val="1"/>
                <c:pt idx="0">
                  <c:v>Avg_Satisfaction_Count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Question12!$B$38:$B$40</c:f>
              <c:strCache>
                <c:ptCount val="3"/>
                <c:pt idx="0">
                  <c:v>High Availability</c:v>
                </c:pt>
                <c:pt idx="1">
                  <c:v>Medium Availability</c:v>
                </c:pt>
                <c:pt idx="2">
                  <c:v>Low Availability</c:v>
                </c:pt>
              </c:strCache>
            </c:strRef>
          </c:cat>
          <c:val>
            <c:numRef>
              <c:f>Question12!$C$38:$C$40</c:f>
              <c:numCache>
                <c:formatCode>General</c:formatCode>
                <c:ptCount val="3"/>
                <c:pt idx="0">
                  <c:v>48.619</c:v>
                </c:pt>
                <c:pt idx="1">
                  <c:v>54.729700000000001</c:v>
                </c:pt>
                <c:pt idx="2">
                  <c:v>25</c:v>
                </c:pt>
              </c:numCache>
            </c:numRef>
          </c:val>
          <c:extLst>
            <c:ext xmlns:c16="http://schemas.microsoft.com/office/drawing/2014/chart" uri="{C3380CC4-5D6E-409C-BE32-E72D297353CC}">
              <c16:uniqueId val="{00000000-78EF-49A2-9C1B-87758FC17FDD}"/>
            </c:ext>
          </c:extLst>
        </c:ser>
        <c:ser>
          <c:idx val="1"/>
          <c:order val="1"/>
          <c:tx>
            <c:strRef>
              <c:f>Question12!$D$37</c:f>
              <c:strCache>
                <c:ptCount val="1"/>
                <c:pt idx="0">
                  <c:v>Avg_Repeat_Rentals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Question12!$B$38:$B$40</c:f>
              <c:strCache>
                <c:ptCount val="3"/>
                <c:pt idx="0">
                  <c:v>High Availability</c:v>
                </c:pt>
                <c:pt idx="1">
                  <c:v>Medium Availability</c:v>
                </c:pt>
                <c:pt idx="2">
                  <c:v>Low Availability</c:v>
                </c:pt>
              </c:strCache>
            </c:strRef>
          </c:cat>
          <c:val>
            <c:numRef>
              <c:f>Question12!$D$38:$D$40</c:f>
              <c:numCache>
                <c:formatCode>General</c:formatCode>
                <c:ptCount val="3"/>
                <c:pt idx="0">
                  <c:v>14.5</c:v>
                </c:pt>
                <c:pt idx="1">
                  <c:v>4.4800000000000004</c:v>
                </c:pt>
                <c:pt idx="2">
                  <c:v>2</c:v>
                </c:pt>
              </c:numCache>
            </c:numRef>
          </c:val>
          <c:extLst>
            <c:ext xmlns:c16="http://schemas.microsoft.com/office/drawing/2014/chart" uri="{C3380CC4-5D6E-409C-BE32-E72D297353CC}">
              <c16:uniqueId val="{00000001-78EF-49A2-9C1B-87758FC17FDD}"/>
            </c:ext>
          </c:extLst>
        </c:ser>
        <c:dLbls>
          <c:showLegendKey val="0"/>
          <c:showVal val="0"/>
          <c:showCatName val="0"/>
          <c:showSerName val="0"/>
          <c:showPercent val="0"/>
          <c:showBubbleSize val="0"/>
        </c:dLbls>
        <c:gapWidth val="100"/>
        <c:overlap val="-24"/>
        <c:axId val="1901096768"/>
        <c:axId val="1901095328"/>
      </c:barChart>
      <c:catAx>
        <c:axId val="190109676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01095328"/>
        <c:crosses val="autoZero"/>
        <c:auto val="1"/>
        <c:lblAlgn val="ctr"/>
        <c:lblOffset val="100"/>
        <c:noMultiLvlLbl val="0"/>
      </c:catAx>
      <c:valAx>
        <c:axId val="19010953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01096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[SDRS-EDA_Questions.xlsx]Question13!PivotTable18</c:name>
    <c:fmtId val="5"/>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Question13!$I$24:$I$25</c:f>
              <c:strCache>
                <c:ptCount val="1"/>
                <c:pt idx="0">
                  <c:v>0</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Question13!$I$26:$I$28</c:f>
              <c:numCache>
                <c:formatCode>General</c:formatCode>
                <c:ptCount val="2"/>
                <c:pt idx="0">
                  <c:v>36</c:v>
                </c:pt>
                <c:pt idx="1">
                  <c:v>29</c:v>
                </c:pt>
              </c:numCache>
            </c:numRef>
          </c:val>
          <c:extLst>
            <c:ext xmlns:c16="http://schemas.microsoft.com/office/drawing/2014/chart" uri="{C3380CC4-5D6E-409C-BE32-E72D297353CC}">
              <c16:uniqueId val="{00000000-4100-4D8A-A9DD-8A99EC7A5812}"/>
            </c:ext>
          </c:extLst>
        </c:ser>
        <c:ser>
          <c:idx val="1"/>
          <c:order val="1"/>
          <c:tx>
            <c:strRef>
              <c:f>Question13!$J$24:$J$25</c:f>
              <c:strCache>
                <c:ptCount val="1"/>
                <c:pt idx="0">
                  <c:v>1</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Question13!$J$26:$J$28</c:f>
              <c:numCache>
                <c:formatCode>General</c:formatCode>
                <c:ptCount val="2"/>
                <c:pt idx="0">
                  <c:v>21</c:v>
                </c:pt>
                <c:pt idx="1">
                  <c:v>12</c:v>
                </c:pt>
              </c:numCache>
            </c:numRef>
          </c:val>
          <c:extLst>
            <c:ext xmlns:c16="http://schemas.microsoft.com/office/drawing/2014/chart" uri="{C3380CC4-5D6E-409C-BE32-E72D297353CC}">
              <c16:uniqueId val="{00000001-4100-4D8A-A9DD-8A99EC7A5812}"/>
            </c:ext>
          </c:extLst>
        </c:ser>
        <c:ser>
          <c:idx val="2"/>
          <c:order val="2"/>
          <c:tx>
            <c:strRef>
              <c:f>Question13!$K$24:$K$25</c:f>
              <c:strCache>
                <c:ptCount val="1"/>
                <c:pt idx="0">
                  <c:v>2</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Question13!$K$26:$K$28</c:f>
              <c:numCache>
                <c:formatCode>General</c:formatCode>
                <c:ptCount val="2"/>
                <c:pt idx="0">
                  <c:v>13</c:v>
                </c:pt>
                <c:pt idx="1">
                  <c:v>10</c:v>
                </c:pt>
              </c:numCache>
            </c:numRef>
          </c:val>
          <c:extLst>
            <c:ext xmlns:c16="http://schemas.microsoft.com/office/drawing/2014/chart" uri="{C3380CC4-5D6E-409C-BE32-E72D297353CC}">
              <c16:uniqueId val="{00000002-4100-4D8A-A9DD-8A99EC7A5812}"/>
            </c:ext>
          </c:extLst>
        </c:ser>
        <c:ser>
          <c:idx val="3"/>
          <c:order val="3"/>
          <c:tx>
            <c:strRef>
              <c:f>Question13!$L$24:$L$25</c:f>
              <c:strCache>
                <c:ptCount val="1"/>
                <c:pt idx="0">
                  <c:v>3</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Question13!$L$26:$L$28</c:f>
              <c:numCache>
                <c:formatCode>General</c:formatCode>
                <c:ptCount val="2"/>
                <c:pt idx="0">
                  <c:v>25</c:v>
                </c:pt>
                <c:pt idx="1">
                  <c:v>43</c:v>
                </c:pt>
              </c:numCache>
            </c:numRef>
          </c:val>
          <c:extLst>
            <c:ext xmlns:c16="http://schemas.microsoft.com/office/drawing/2014/chart" uri="{C3380CC4-5D6E-409C-BE32-E72D297353CC}">
              <c16:uniqueId val="{00000003-4100-4D8A-A9DD-8A99EC7A5812}"/>
            </c:ext>
          </c:extLst>
        </c:ser>
        <c:ser>
          <c:idx val="4"/>
          <c:order val="4"/>
          <c:tx>
            <c:strRef>
              <c:f>Question13!$M$24:$M$25</c:f>
              <c:strCache>
                <c:ptCount val="1"/>
                <c:pt idx="0">
                  <c:v>4</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Question13!$M$26:$M$28</c:f>
              <c:numCache>
                <c:formatCode>General</c:formatCode>
                <c:ptCount val="2"/>
                <c:pt idx="0">
                  <c:v>14</c:v>
                </c:pt>
                <c:pt idx="1">
                  <c:v>17</c:v>
                </c:pt>
              </c:numCache>
            </c:numRef>
          </c:val>
          <c:extLst>
            <c:ext xmlns:c16="http://schemas.microsoft.com/office/drawing/2014/chart" uri="{C3380CC4-5D6E-409C-BE32-E72D297353CC}">
              <c16:uniqueId val="{00000004-4100-4D8A-A9DD-8A99EC7A5812}"/>
            </c:ext>
          </c:extLst>
        </c:ser>
        <c:ser>
          <c:idx val="5"/>
          <c:order val="5"/>
          <c:tx>
            <c:strRef>
              <c:f>Question13!$N$24:$N$25</c:f>
              <c:strCache>
                <c:ptCount val="1"/>
                <c:pt idx="0">
                  <c:v>5</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Question13!$N$26:$N$28</c:f>
              <c:numCache>
                <c:formatCode>General</c:formatCode>
                <c:ptCount val="2"/>
                <c:pt idx="0">
                  <c:v>20</c:v>
                </c:pt>
                <c:pt idx="1">
                  <c:v>37</c:v>
                </c:pt>
              </c:numCache>
            </c:numRef>
          </c:val>
          <c:extLst>
            <c:ext xmlns:c16="http://schemas.microsoft.com/office/drawing/2014/chart" uri="{C3380CC4-5D6E-409C-BE32-E72D297353CC}">
              <c16:uniqueId val="{00000005-4100-4D8A-A9DD-8A99EC7A5812}"/>
            </c:ext>
          </c:extLst>
        </c:ser>
        <c:ser>
          <c:idx val="6"/>
          <c:order val="6"/>
          <c:tx>
            <c:strRef>
              <c:f>Question13!$O$24:$O$25</c:f>
              <c:strCache>
                <c:ptCount val="1"/>
                <c:pt idx="0">
                  <c:v>6</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Question13!$O$26:$O$28</c:f>
              <c:numCache>
                <c:formatCode>General</c:formatCode>
                <c:ptCount val="2"/>
                <c:pt idx="0">
                  <c:v>14</c:v>
                </c:pt>
                <c:pt idx="1">
                  <c:v>11</c:v>
                </c:pt>
              </c:numCache>
            </c:numRef>
          </c:val>
          <c:extLst>
            <c:ext xmlns:c16="http://schemas.microsoft.com/office/drawing/2014/chart" uri="{C3380CC4-5D6E-409C-BE32-E72D297353CC}">
              <c16:uniqueId val="{00000006-4100-4D8A-A9DD-8A99EC7A5812}"/>
            </c:ext>
          </c:extLst>
        </c:ser>
        <c:ser>
          <c:idx val="7"/>
          <c:order val="7"/>
          <c:tx>
            <c:strRef>
              <c:f>Question13!$P$24:$P$25</c:f>
              <c:strCache>
                <c:ptCount val="1"/>
                <c:pt idx="0">
                  <c:v>7</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Question13!$P$26:$P$28</c:f>
              <c:numCache>
                <c:formatCode>General</c:formatCode>
                <c:ptCount val="2"/>
                <c:pt idx="0">
                  <c:v>28</c:v>
                </c:pt>
                <c:pt idx="1">
                  <c:v>24</c:v>
                </c:pt>
              </c:numCache>
            </c:numRef>
          </c:val>
          <c:extLst>
            <c:ext xmlns:c16="http://schemas.microsoft.com/office/drawing/2014/chart" uri="{C3380CC4-5D6E-409C-BE32-E72D297353CC}">
              <c16:uniqueId val="{00000007-4100-4D8A-A9DD-8A99EC7A5812}"/>
            </c:ext>
          </c:extLst>
        </c:ser>
        <c:ser>
          <c:idx val="8"/>
          <c:order val="8"/>
          <c:tx>
            <c:strRef>
              <c:f>Question13!$Q$24:$Q$25</c:f>
              <c:strCache>
                <c:ptCount val="1"/>
                <c:pt idx="0">
                  <c:v>8</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Question13!$Q$26:$Q$28</c:f>
              <c:numCache>
                <c:formatCode>General</c:formatCode>
                <c:ptCount val="2"/>
                <c:pt idx="0">
                  <c:v>29</c:v>
                </c:pt>
                <c:pt idx="1">
                  <c:v>25</c:v>
                </c:pt>
              </c:numCache>
            </c:numRef>
          </c:val>
          <c:extLst>
            <c:ext xmlns:c16="http://schemas.microsoft.com/office/drawing/2014/chart" uri="{C3380CC4-5D6E-409C-BE32-E72D297353CC}">
              <c16:uniqueId val="{00000008-4100-4D8A-A9DD-8A99EC7A5812}"/>
            </c:ext>
          </c:extLst>
        </c:ser>
        <c:ser>
          <c:idx val="9"/>
          <c:order val="9"/>
          <c:tx>
            <c:strRef>
              <c:f>Question13!$R$24:$R$25</c:f>
              <c:strCache>
                <c:ptCount val="1"/>
                <c:pt idx="0">
                  <c:v>9</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Question13!$R$26:$R$28</c:f>
              <c:numCache>
                <c:formatCode>General</c:formatCode>
                <c:ptCount val="2"/>
                <c:pt idx="0">
                  <c:v>7</c:v>
                </c:pt>
                <c:pt idx="1">
                  <c:v>30</c:v>
                </c:pt>
              </c:numCache>
            </c:numRef>
          </c:val>
          <c:extLst>
            <c:ext xmlns:c16="http://schemas.microsoft.com/office/drawing/2014/chart" uri="{C3380CC4-5D6E-409C-BE32-E72D297353CC}">
              <c16:uniqueId val="{00000009-4100-4D8A-A9DD-8A99EC7A5812}"/>
            </c:ext>
          </c:extLst>
        </c:ser>
        <c:ser>
          <c:idx val="10"/>
          <c:order val="10"/>
          <c:tx>
            <c:strRef>
              <c:f>Question13!$S$24:$S$25</c:f>
              <c:strCache>
                <c:ptCount val="1"/>
                <c:pt idx="0">
                  <c:v>10</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Question13!$S$26:$S$28</c:f>
              <c:numCache>
                <c:formatCode>General</c:formatCode>
                <c:ptCount val="2"/>
                <c:pt idx="0">
                  <c:v>14</c:v>
                </c:pt>
                <c:pt idx="1">
                  <c:v>29</c:v>
                </c:pt>
              </c:numCache>
            </c:numRef>
          </c:val>
          <c:extLst>
            <c:ext xmlns:c16="http://schemas.microsoft.com/office/drawing/2014/chart" uri="{C3380CC4-5D6E-409C-BE32-E72D297353CC}">
              <c16:uniqueId val="{0000000A-4100-4D8A-A9DD-8A99EC7A5812}"/>
            </c:ext>
          </c:extLst>
        </c:ser>
        <c:ser>
          <c:idx val="11"/>
          <c:order val="11"/>
          <c:tx>
            <c:strRef>
              <c:f>Question13!$T$24:$T$25</c:f>
              <c:strCache>
                <c:ptCount val="1"/>
                <c:pt idx="0">
                  <c:v>11</c:v>
                </c:pt>
              </c:strCache>
            </c:strRef>
          </c:tx>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Question13!$T$26:$T$28</c:f>
              <c:numCache>
                <c:formatCode>General</c:formatCode>
                <c:ptCount val="2"/>
                <c:pt idx="0">
                  <c:v>19</c:v>
                </c:pt>
                <c:pt idx="1">
                  <c:v>18</c:v>
                </c:pt>
              </c:numCache>
            </c:numRef>
          </c:val>
          <c:extLst>
            <c:ext xmlns:c16="http://schemas.microsoft.com/office/drawing/2014/chart" uri="{C3380CC4-5D6E-409C-BE32-E72D297353CC}">
              <c16:uniqueId val="{0000000B-4100-4D8A-A9DD-8A99EC7A5812}"/>
            </c:ext>
          </c:extLst>
        </c:ser>
        <c:ser>
          <c:idx val="12"/>
          <c:order val="12"/>
          <c:tx>
            <c:strRef>
              <c:f>Question13!$U$24:$U$25</c:f>
              <c:strCache>
                <c:ptCount val="1"/>
                <c:pt idx="0">
                  <c:v>12</c:v>
                </c:pt>
              </c:strCache>
            </c:strRef>
          </c:tx>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Question13!$U$26:$U$28</c:f>
              <c:numCache>
                <c:formatCode>General</c:formatCode>
                <c:ptCount val="2"/>
                <c:pt idx="0">
                  <c:v>21</c:v>
                </c:pt>
                <c:pt idx="1">
                  <c:v>25</c:v>
                </c:pt>
              </c:numCache>
            </c:numRef>
          </c:val>
          <c:extLst>
            <c:ext xmlns:c16="http://schemas.microsoft.com/office/drawing/2014/chart" uri="{C3380CC4-5D6E-409C-BE32-E72D297353CC}">
              <c16:uniqueId val="{0000000C-4100-4D8A-A9DD-8A99EC7A5812}"/>
            </c:ext>
          </c:extLst>
        </c:ser>
        <c:ser>
          <c:idx val="13"/>
          <c:order val="13"/>
          <c:tx>
            <c:strRef>
              <c:f>Question13!$V$24:$V$25</c:f>
              <c:strCache>
                <c:ptCount val="1"/>
                <c:pt idx="0">
                  <c:v>13</c:v>
                </c:pt>
              </c:strCache>
            </c:strRef>
          </c:tx>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Question13!$V$26:$V$28</c:f>
              <c:numCache>
                <c:formatCode>General</c:formatCode>
                <c:ptCount val="2"/>
                <c:pt idx="0">
                  <c:v>24</c:v>
                </c:pt>
                <c:pt idx="1">
                  <c:v>17</c:v>
                </c:pt>
              </c:numCache>
            </c:numRef>
          </c:val>
          <c:extLst>
            <c:ext xmlns:c16="http://schemas.microsoft.com/office/drawing/2014/chart" uri="{C3380CC4-5D6E-409C-BE32-E72D297353CC}">
              <c16:uniqueId val="{0000000D-4100-4D8A-A9DD-8A99EC7A5812}"/>
            </c:ext>
          </c:extLst>
        </c:ser>
        <c:ser>
          <c:idx val="14"/>
          <c:order val="14"/>
          <c:tx>
            <c:strRef>
              <c:f>Question13!$W$24:$W$25</c:f>
              <c:strCache>
                <c:ptCount val="1"/>
                <c:pt idx="0">
                  <c:v>14</c:v>
                </c:pt>
              </c:strCache>
            </c:strRef>
          </c:tx>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Question13!$W$26:$W$28</c:f>
              <c:numCache>
                <c:formatCode>General</c:formatCode>
                <c:ptCount val="2"/>
                <c:pt idx="0">
                  <c:v>23</c:v>
                </c:pt>
                <c:pt idx="1">
                  <c:v>18</c:v>
                </c:pt>
              </c:numCache>
            </c:numRef>
          </c:val>
          <c:extLst>
            <c:ext xmlns:c16="http://schemas.microsoft.com/office/drawing/2014/chart" uri="{C3380CC4-5D6E-409C-BE32-E72D297353CC}">
              <c16:uniqueId val="{0000000E-4100-4D8A-A9DD-8A99EC7A5812}"/>
            </c:ext>
          </c:extLst>
        </c:ser>
        <c:ser>
          <c:idx val="15"/>
          <c:order val="15"/>
          <c:tx>
            <c:strRef>
              <c:f>Question13!$X$24:$X$25</c:f>
              <c:strCache>
                <c:ptCount val="1"/>
                <c:pt idx="0">
                  <c:v>15</c:v>
                </c:pt>
              </c:strCache>
            </c:strRef>
          </c:tx>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Question13!$X$26:$X$28</c:f>
              <c:numCache>
                <c:formatCode>General</c:formatCode>
                <c:ptCount val="2"/>
                <c:pt idx="0">
                  <c:v>47</c:v>
                </c:pt>
                <c:pt idx="1">
                  <c:v>16</c:v>
                </c:pt>
              </c:numCache>
            </c:numRef>
          </c:val>
          <c:extLst>
            <c:ext xmlns:c16="http://schemas.microsoft.com/office/drawing/2014/chart" uri="{C3380CC4-5D6E-409C-BE32-E72D297353CC}">
              <c16:uniqueId val="{0000000F-4100-4D8A-A9DD-8A99EC7A5812}"/>
            </c:ext>
          </c:extLst>
        </c:ser>
        <c:ser>
          <c:idx val="16"/>
          <c:order val="16"/>
          <c:tx>
            <c:strRef>
              <c:f>Question13!$Y$24:$Y$25</c:f>
              <c:strCache>
                <c:ptCount val="1"/>
                <c:pt idx="0">
                  <c:v>16</c:v>
                </c:pt>
              </c:strCache>
            </c:strRef>
          </c:tx>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Question13!$Y$26:$Y$28</c:f>
              <c:numCache>
                <c:formatCode>General</c:formatCode>
                <c:ptCount val="2"/>
                <c:pt idx="0">
                  <c:v>15</c:v>
                </c:pt>
                <c:pt idx="1">
                  <c:v>16</c:v>
                </c:pt>
              </c:numCache>
            </c:numRef>
          </c:val>
          <c:extLst>
            <c:ext xmlns:c16="http://schemas.microsoft.com/office/drawing/2014/chart" uri="{C3380CC4-5D6E-409C-BE32-E72D297353CC}">
              <c16:uniqueId val="{00000010-4100-4D8A-A9DD-8A99EC7A5812}"/>
            </c:ext>
          </c:extLst>
        </c:ser>
        <c:ser>
          <c:idx val="17"/>
          <c:order val="17"/>
          <c:tx>
            <c:strRef>
              <c:f>Question13!$Z$24:$Z$25</c:f>
              <c:strCache>
                <c:ptCount val="1"/>
                <c:pt idx="0">
                  <c:v>17</c:v>
                </c:pt>
              </c:strCache>
            </c:strRef>
          </c:tx>
          <c:spPr>
            <a:gradFill rotWithShape="1">
              <a:gsLst>
                <a:gs pos="0">
                  <a:schemeClr val="accent6">
                    <a:lumMod val="80000"/>
                    <a:lumOff val="20000"/>
                    <a:satMod val="103000"/>
                    <a:lumMod val="102000"/>
                    <a:tint val="94000"/>
                  </a:schemeClr>
                </a:gs>
                <a:gs pos="50000">
                  <a:schemeClr val="accent6">
                    <a:lumMod val="80000"/>
                    <a:lumOff val="20000"/>
                    <a:satMod val="110000"/>
                    <a:lumMod val="100000"/>
                    <a:shade val="100000"/>
                  </a:schemeClr>
                </a:gs>
                <a:gs pos="100000">
                  <a:schemeClr val="accent6">
                    <a:lumMod val="80000"/>
                    <a:lumOff val="2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Question13!$Z$26:$Z$28</c:f>
              <c:numCache>
                <c:formatCode>General</c:formatCode>
                <c:ptCount val="2"/>
                <c:pt idx="0">
                  <c:v>6</c:v>
                </c:pt>
                <c:pt idx="1">
                  <c:v>8</c:v>
                </c:pt>
              </c:numCache>
            </c:numRef>
          </c:val>
          <c:extLst>
            <c:ext xmlns:c16="http://schemas.microsoft.com/office/drawing/2014/chart" uri="{C3380CC4-5D6E-409C-BE32-E72D297353CC}">
              <c16:uniqueId val="{00000011-4100-4D8A-A9DD-8A99EC7A5812}"/>
            </c:ext>
          </c:extLst>
        </c:ser>
        <c:ser>
          <c:idx val="18"/>
          <c:order val="18"/>
          <c:tx>
            <c:strRef>
              <c:f>Question13!$AA$24:$AA$25</c:f>
              <c:strCache>
                <c:ptCount val="1"/>
                <c:pt idx="0">
                  <c:v>18</c:v>
                </c:pt>
              </c:strCache>
            </c:strRef>
          </c:tx>
          <c:spPr>
            <a:gradFill rotWithShape="1">
              <a:gsLst>
                <a:gs pos="0">
                  <a:schemeClr val="accent1">
                    <a:lumMod val="80000"/>
                    <a:satMod val="103000"/>
                    <a:lumMod val="102000"/>
                    <a:tint val="94000"/>
                  </a:schemeClr>
                </a:gs>
                <a:gs pos="50000">
                  <a:schemeClr val="accent1">
                    <a:lumMod val="80000"/>
                    <a:satMod val="110000"/>
                    <a:lumMod val="100000"/>
                    <a:shade val="100000"/>
                  </a:schemeClr>
                </a:gs>
                <a:gs pos="100000">
                  <a:schemeClr val="accent1">
                    <a:lumMod val="8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Question13!$AA$26:$AA$28</c:f>
              <c:numCache>
                <c:formatCode>General</c:formatCode>
                <c:ptCount val="2"/>
                <c:pt idx="0">
                  <c:v>16</c:v>
                </c:pt>
                <c:pt idx="1">
                  <c:v>30</c:v>
                </c:pt>
              </c:numCache>
            </c:numRef>
          </c:val>
          <c:extLst>
            <c:ext xmlns:c16="http://schemas.microsoft.com/office/drawing/2014/chart" uri="{C3380CC4-5D6E-409C-BE32-E72D297353CC}">
              <c16:uniqueId val="{00000012-4100-4D8A-A9DD-8A99EC7A5812}"/>
            </c:ext>
          </c:extLst>
        </c:ser>
        <c:ser>
          <c:idx val="19"/>
          <c:order val="19"/>
          <c:tx>
            <c:strRef>
              <c:f>Question13!$AB$24:$AB$25</c:f>
              <c:strCache>
                <c:ptCount val="1"/>
                <c:pt idx="0">
                  <c:v>19</c:v>
                </c:pt>
              </c:strCache>
            </c:strRef>
          </c:tx>
          <c:spPr>
            <a:gradFill rotWithShape="1">
              <a:gsLst>
                <a:gs pos="0">
                  <a:schemeClr val="accent2">
                    <a:lumMod val="80000"/>
                    <a:satMod val="103000"/>
                    <a:lumMod val="102000"/>
                    <a:tint val="94000"/>
                  </a:schemeClr>
                </a:gs>
                <a:gs pos="50000">
                  <a:schemeClr val="accent2">
                    <a:lumMod val="80000"/>
                    <a:satMod val="110000"/>
                    <a:lumMod val="100000"/>
                    <a:shade val="100000"/>
                  </a:schemeClr>
                </a:gs>
                <a:gs pos="100000">
                  <a:schemeClr val="accent2">
                    <a:lumMod val="8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Question13!$AB$26:$AB$28</c:f>
              <c:numCache>
                <c:formatCode>General</c:formatCode>
                <c:ptCount val="2"/>
                <c:pt idx="0">
                  <c:v>27</c:v>
                </c:pt>
                <c:pt idx="1">
                  <c:v>13</c:v>
                </c:pt>
              </c:numCache>
            </c:numRef>
          </c:val>
          <c:extLst>
            <c:ext xmlns:c16="http://schemas.microsoft.com/office/drawing/2014/chart" uri="{C3380CC4-5D6E-409C-BE32-E72D297353CC}">
              <c16:uniqueId val="{00000013-4100-4D8A-A9DD-8A99EC7A5812}"/>
            </c:ext>
          </c:extLst>
        </c:ser>
        <c:ser>
          <c:idx val="20"/>
          <c:order val="20"/>
          <c:tx>
            <c:strRef>
              <c:f>Question13!$AC$24:$AC$25</c:f>
              <c:strCache>
                <c:ptCount val="1"/>
                <c:pt idx="0">
                  <c:v>20</c:v>
                </c:pt>
              </c:strCache>
            </c:strRef>
          </c:tx>
          <c:spPr>
            <a:gradFill rotWithShape="1">
              <a:gsLst>
                <a:gs pos="0">
                  <a:schemeClr val="accent3">
                    <a:lumMod val="80000"/>
                    <a:satMod val="103000"/>
                    <a:lumMod val="102000"/>
                    <a:tint val="94000"/>
                  </a:schemeClr>
                </a:gs>
                <a:gs pos="50000">
                  <a:schemeClr val="accent3">
                    <a:lumMod val="80000"/>
                    <a:satMod val="110000"/>
                    <a:lumMod val="100000"/>
                    <a:shade val="100000"/>
                  </a:schemeClr>
                </a:gs>
                <a:gs pos="100000">
                  <a:schemeClr val="accent3">
                    <a:lumMod val="8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Question13!$AC$26:$AC$28</c:f>
              <c:numCache>
                <c:formatCode>General</c:formatCode>
                <c:ptCount val="2"/>
                <c:pt idx="0">
                  <c:v>26</c:v>
                </c:pt>
                <c:pt idx="1">
                  <c:v>28</c:v>
                </c:pt>
              </c:numCache>
            </c:numRef>
          </c:val>
          <c:extLst>
            <c:ext xmlns:c16="http://schemas.microsoft.com/office/drawing/2014/chart" uri="{C3380CC4-5D6E-409C-BE32-E72D297353CC}">
              <c16:uniqueId val="{00000014-4100-4D8A-A9DD-8A99EC7A5812}"/>
            </c:ext>
          </c:extLst>
        </c:ser>
        <c:ser>
          <c:idx val="21"/>
          <c:order val="21"/>
          <c:tx>
            <c:strRef>
              <c:f>Question13!$AD$24:$AD$25</c:f>
              <c:strCache>
                <c:ptCount val="1"/>
                <c:pt idx="0">
                  <c:v>21</c:v>
                </c:pt>
              </c:strCache>
            </c:strRef>
          </c:tx>
          <c:spPr>
            <a:gradFill rotWithShape="1">
              <a:gsLst>
                <a:gs pos="0">
                  <a:schemeClr val="accent4">
                    <a:lumMod val="80000"/>
                    <a:satMod val="103000"/>
                    <a:lumMod val="102000"/>
                    <a:tint val="94000"/>
                  </a:schemeClr>
                </a:gs>
                <a:gs pos="50000">
                  <a:schemeClr val="accent4">
                    <a:lumMod val="80000"/>
                    <a:satMod val="110000"/>
                    <a:lumMod val="100000"/>
                    <a:shade val="100000"/>
                  </a:schemeClr>
                </a:gs>
                <a:gs pos="100000">
                  <a:schemeClr val="accent4">
                    <a:lumMod val="8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Question13!$AD$26:$AD$28</c:f>
              <c:numCache>
                <c:formatCode>General</c:formatCode>
                <c:ptCount val="2"/>
                <c:pt idx="0">
                  <c:v>21</c:v>
                </c:pt>
                <c:pt idx="1">
                  <c:v>12</c:v>
                </c:pt>
              </c:numCache>
            </c:numRef>
          </c:val>
          <c:extLst>
            <c:ext xmlns:c16="http://schemas.microsoft.com/office/drawing/2014/chart" uri="{C3380CC4-5D6E-409C-BE32-E72D297353CC}">
              <c16:uniqueId val="{00000015-4100-4D8A-A9DD-8A99EC7A5812}"/>
            </c:ext>
          </c:extLst>
        </c:ser>
        <c:ser>
          <c:idx val="22"/>
          <c:order val="22"/>
          <c:tx>
            <c:strRef>
              <c:f>Question13!$AE$24:$AE$25</c:f>
              <c:strCache>
                <c:ptCount val="1"/>
                <c:pt idx="0">
                  <c:v>22</c:v>
                </c:pt>
              </c:strCache>
            </c:strRef>
          </c:tx>
          <c:spPr>
            <a:gradFill rotWithShape="1">
              <a:gsLst>
                <a:gs pos="0">
                  <a:schemeClr val="accent5">
                    <a:lumMod val="80000"/>
                    <a:satMod val="103000"/>
                    <a:lumMod val="102000"/>
                    <a:tint val="94000"/>
                  </a:schemeClr>
                </a:gs>
                <a:gs pos="50000">
                  <a:schemeClr val="accent5">
                    <a:lumMod val="80000"/>
                    <a:satMod val="110000"/>
                    <a:lumMod val="100000"/>
                    <a:shade val="100000"/>
                  </a:schemeClr>
                </a:gs>
                <a:gs pos="100000">
                  <a:schemeClr val="accent5">
                    <a:lumMod val="8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Question13!$AE$26:$AE$28</c:f>
              <c:numCache>
                <c:formatCode>General</c:formatCode>
                <c:ptCount val="2"/>
                <c:pt idx="0">
                  <c:v>5</c:v>
                </c:pt>
                <c:pt idx="1">
                  <c:v>17</c:v>
                </c:pt>
              </c:numCache>
            </c:numRef>
          </c:val>
          <c:extLst>
            <c:ext xmlns:c16="http://schemas.microsoft.com/office/drawing/2014/chart" uri="{C3380CC4-5D6E-409C-BE32-E72D297353CC}">
              <c16:uniqueId val="{00000016-4100-4D8A-A9DD-8A99EC7A5812}"/>
            </c:ext>
          </c:extLst>
        </c:ser>
        <c:ser>
          <c:idx val="23"/>
          <c:order val="23"/>
          <c:tx>
            <c:strRef>
              <c:f>Question13!$AF$24:$AF$25</c:f>
              <c:strCache>
                <c:ptCount val="1"/>
                <c:pt idx="0">
                  <c:v>23</c:v>
                </c:pt>
              </c:strCache>
            </c:strRef>
          </c:tx>
          <c:spPr>
            <a:gradFill rotWithShape="1">
              <a:gsLst>
                <a:gs pos="0">
                  <a:schemeClr val="accent6">
                    <a:lumMod val="80000"/>
                    <a:satMod val="103000"/>
                    <a:lumMod val="102000"/>
                    <a:tint val="94000"/>
                  </a:schemeClr>
                </a:gs>
                <a:gs pos="50000">
                  <a:schemeClr val="accent6">
                    <a:lumMod val="80000"/>
                    <a:satMod val="110000"/>
                    <a:lumMod val="100000"/>
                    <a:shade val="100000"/>
                  </a:schemeClr>
                </a:gs>
                <a:gs pos="100000">
                  <a:schemeClr val="accent6">
                    <a:lumMod val="80000"/>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Question13!$H$26:$H$28</c:f>
              <c:strCache>
                <c:ptCount val="2"/>
                <c:pt idx="0">
                  <c:v>1</c:v>
                </c:pt>
                <c:pt idx="1">
                  <c:v>2</c:v>
                </c:pt>
              </c:strCache>
            </c:strRef>
          </c:cat>
          <c:val>
            <c:numRef>
              <c:f>Question13!$AF$26:$AF$28</c:f>
              <c:numCache>
                <c:formatCode>General</c:formatCode>
                <c:ptCount val="2"/>
                <c:pt idx="0">
                  <c:v>10</c:v>
                </c:pt>
                <c:pt idx="1">
                  <c:v>15</c:v>
                </c:pt>
              </c:numCache>
            </c:numRef>
          </c:val>
          <c:extLst>
            <c:ext xmlns:c16="http://schemas.microsoft.com/office/drawing/2014/chart" uri="{C3380CC4-5D6E-409C-BE32-E72D297353CC}">
              <c16:uniqueId val="{00000017-4100-4D8A-A9DD-8A99EC7A5812}"/>
            </c:ext>
          </c:extLst>
        </c:ser>
        <c:dLbls>
          <c:showLegendKey val="0"/>
          <c:showVal val="0"/>
          <c:showCatName val="0"/>
          <c:showSerName val="0"/>
          <c:showPercent val="0"/>
          <c:showBubbleSize val="0"/>
        </c:dLbls>
        <c:gapWidth val="100"/>
        <c:overlap val="-24"/>
        <c:axId val="1901148608"/>
        <c:axId val="1901139008"/>
      </c:barChart>
      <c:catAx>
        <c:axId val="190114860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01139008"/>
        <c:crosses val="autoZero"/>
        <c:auto val="1"/>
        <c:lblAlgn val="ctr"/>
        <c:lblOffset val="100"/>
        <c:noMultiLvlLbl val="0"/>
      </c:catAx>
      <c:valAx>
        <c:axId val="190113900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011486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Question15!$C$23</c:f>
              <c:strCache>
                <c:ptCount val="1"/>
                <c:pt idx="0">
                  <c:v>Total Rentals</c:v>
                </c:pt>
              </c:strCache>
            </c:strRef>
          </c:tx>
          <c:dPt>
            <c:idx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01-5154-4BA6-8887-DAB66726F3B8}"/>
              </c:ext>
            </c:extLst>
          </c:dPt>
          <c:cat>
            <c:strRef>
              <c:f>Question15!$B$24</c:f>
              <c:strCache>
                <c:ptCount val="1"/>
                <c:pt idx="0">
                  <c:v>English</c:v>
                </c:pt>
              </c:strCache>
            </c:strRef>
          </c:cat>
          <c:val>
            <c:numRef>
              <c:f>Question15!$C$24</c:f>
              <c:numCache>
                <c:formatCode>General</c:formatCode>
                <c:ptCount val="1"/>
                <c:pt idx="0">
                  <c:v>11491</c:v>
                </c:pt>
              </c:numCache>
            </c:numRef>
          </c:val>
          <c:extLst>
            <c:ext xmlns:c16="http://schemas.microsoft.com/office/drawing/2014/chart" uri="{C3380CC4-5D6E-409C-BE32-E72D297353CC}">
              <c16:uniqueId val="{00000002-5154-4BA6-8887-DAB66726F3B8}"/>
            </c:ext>
          </c:extLst>
        </c:ser>
        <c:ser>
          <c:idx val="1"/>
          <c:order val="1"/>
          <c:tx>
            <c:strRef>
              <c:f>Question15!$D$23</c:f>
              <c:strCache>
                <c:ptCount val="1"/>
                <c:pt idx="0">
                  <c:v>Satisfactory</c:v>
                </c:pt>
              </c:strCache>
            </c:strRef>
          </c:tx>
          <c:dPt>
            <c:idx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extLst>
              <c:ext xmlns:c16="http://schemas.microsoft.com/office/drawing/2014/chart" uri="{C3380CC4-5D6E-409C-BE32-E72D297353CC}">
                <c16:uniqueId val="{00000004-5154-4BA6-8887-DAB66726F3B8}"/>
              </c:ext>
            </c:extLst>
          </c:dPt>
          <c:cat>
            <c:strRef>
              <c:f>Question15!$B$24</c:f>
              <c:strCache>
                <c:ptCount val="1"/>
                <c:pt idx="0">
                  <c:v>English</c:v>
                </c:pt>
              </c:strCache>
            </c:strRef>
          </c:cat>
          <c:val>
            <c:numRef>
              <c:f>Question15!$D$24</c:f>
              <c:numCache>
                <c:formatCode>General</c:formatCode>
                <c:ptCount val="1"/>
                <c:pt idx="0">
                  <c:v>11491</c:v>
                </c:pt>
              </c:numCache>
            </c:numRef>
          </c:val>
          <c:extLst>
            <c:ext xmlns:c16="http://schemas.microsoft.com/office/drawing/2014/chart" uri="{C3380CC4-5D6E-409C-BE32-E72D297353CC}">
              <c16:uniqueId val="{00000005-5154-4BA6-8887-DAB66726F3B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[SDRS-EDA_Questions.xlsx]Question14!PivotTable29</c:name>
    <c:fmtId val="8"/>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Question14!$H$29:$H$30</c:f>
              <c:strCache>
                <c:ptCount val="1"/>
                <c:pt idx="0">
                  <c:v>G</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Question14!$G$31:$G$107</c:f>
              <c:strCache>
                <c:ptCount val="76"/>
                <c:pt idx="0">
                  <c:v>Afghanistan</c:v>
                </c:pt>
                <c:pt idx="1">
                  <c:v>Algeria</c:v>
                </c:pt>
                <c:pt idx="2">
                  <c:v>Argentina</c:v>
                </c:pt>
                <c:pt idx="3">
                  <c:v>Armenia</c:v>
                </c:pt>
                <c:pt idx="4">
                  <c:v>Austria</c:v>
                </c:pt>
                <c:pt idx="5">
                  <c:v>Bangladesh</c:v>
                </c:pt>
                <c:pt idx="6">
                  <c:v>Belarus</c:v>
                </c:pt>
                <c:pt idx="7">
                  <c:v>Brazil</c:v>
                </c:pt>
                <c:pt idx="8">
                  <c:v>Brunei</c:v>
                </c:pt>
                <c:pt idx="9">
                  <c:v>Bulgaria</c:v>
                </c:pt>
                <c:pt idx="10">
                  <c:v>Cambodia</c:v>
                </c:pt>
                <c:pt idx="11">
                  <c:v>Canada</c:v>
                </c:pt>
                <c:pt idx="12">
                  <c:v>Chile</c:v>
                </c:pt>
                <c:pt idx="13">
                  <c:v>China</c:v>
                </c:pt>
                <c:pt idx="14">
                  <c:v>Colombia</c:v>
                </c:pt>
                <c:pt idx="15">
                  <c:v>Egypt</c:v>
                </c:pt>
                <c:pt idx="16">
                  <c:v>France</c:v>
                </c:pt>
                <c:pt idx="17">
                  <c:v>French Guiana</c:v>
                </c:pt>
                <c:pt idx="18">
                  <c:v>French Polynesia</c:v>
                </c:pt>
                <c:pt idx="19">
                  <c:v>Germany</c:v>
                </c:pt>
                <c:pt idx="20">
                  <c:v>Greece</c:v>
                </c:pt>
                <c:pt idx="21">
                  <c:v>Greenland</c:v>
                </c:pt>
                <c:pt idx="22">
                  <c:v>Holy See (Vatican City State)</c:v>
                </c:pt>
                <c:pt idx="23">
                  <c:v>India</c:v>
                </c:pt>
                <c:pt idx="24">
                  <c:v>Indonesia</c:v>
                </c:pt>
                <c:pt idx="25">
                  <c:v>Iran</c:v>
                </c:pt>
                <c:pt idx="26">
                  <c:v>Israel</c:v>
                </c:pt>
                <c:pt idx="27">
                  <c:v>Italy</c:v>
                </c:pt>
                <c:pt idx="28">
                  <c:v>Japan</c:v>
                </c:pt>
                <c:pt idx="29">
                  <c:v>Kazakstan</c:v>
                </c:pt>
                <c:pt idx="30">
                  <c:v>Kenya</c:v>
                </c:pt>
                <c:pt idx="31">
                  <c:v>Kuwait</c:v>
                </c:pt>
                <c:pt idx="32">
                  <c:v>Latvia</c:v>
                </c:pt>
                <c:pt idx="33">
                  <c:v>Liechtenstein</c:v>
                </c:pt>
                <c:pt idx="34">
                  <c:v>Madagascar</c:v>
                </c:pt>
                <c:pt idx="35">
                  <c:v>Malawi</c:v>
                </c:pt>
                <c:pt idx="36">
                  <c:v>Malaysia</c:v>
                </c:pt>
                <c:pt idx="37">
                  <c:v>Mexico</c:v>
                </c:pt>
                <c:pt idx="38">
                  <c:v>Moldova</c:v>
                </c:pt>
                <c:pt idx="39">
                  <c:v>Morocco</c:v>
                </c:pt>
                <c:pt idx="40">
                  <c:v>Mozambique</c:v>
                </c:pt>
                <c:pt idx="41">
                  <c:v>Myanmar</c:v>
                </c:pt>
                <c:pt idx="42">
                  <c:v>Netherlands</c:v>
                </c:pt>
                <c:pt idx="43">
                  <c:v>New Zealand</c:v>
                </c:pt>
                <c:pt idx="44">
                  <c:v>Nigeria</c:v>
                </c:pt>
                <c:pt idx="45">
                  <c:v>North Korea</c:v>
                </c:pt>
                <c:pt idx="46">
                  <c:v>Oman</c:v>
                </c:pt>
                <c:pt idx="47">
                  <c:v>Pakistan</c:v>
                </c:pt>
                <c:pt idx="48">
                  <c:v>Paraguay</c:v>
                </c:pt>
                <c:pt idx="49">
                  <c:v>Peru</c:v>
                </c:pt>
                <c:pt idx="50">
                  <c:v>Philippines</c:v>
                </c:pt>
                <c:pt idx="51">
                  <c:v>Poland</c:v>
                </c:pt>
                <c:pt idx="52">
                  <c:v>Réunio</c:v>
                </c:pt>
                <c:pt idx="53">
                  <c:v>Romania</c:v>
                </c:pt>
                <c:pt idx="54">
                  <c:v>Russian Federation</c:v>
                </c:pt>
                <c:pt idx="55">
                  <c:v>Saudi Arabia</c:v>
                </c:pt>
                <c:pt idx="56">
                  <c:v>South Africa</c:v>
                </c:pt>
                <c:pt idx="57">
                  <c:v>South Korea</c:v>
                </c:pt>
                <c:pt idx="58">
                  <c:v>Spain</c:v>
                </c:pt>
                <c:pt idx="59">
                  <c:v>Sudan</c:v>
                </c:pt>
                <c:pt idx="60">
                  <c:v>Sweden</c:v>
                </c:pt>
                <c:pt idx="61">
                  <c:v>Switzerland</c:v>
                </c:pt>
                <c:pt idx="62">
                  <c:v>Taiwan</c:v>
                </c:pt>
                <c:pt idx="63">
                  <c:v>Tanzania</c:v>
                </c:pt>
                <c:pt idx="64">
                  <c:v>Thailand</c:v>
                </c:pt>
                <c:pt idx="65">
                  <c:v>Turkey</c:v>
                </c:pt>
                <c:pt idx="66">
                  <c:v>Turkmenistan</c:v>
                </c:pt>
                <c:pt idx="67">
                  <c:v>Tuvalu</c:v>
                </c:pt>
                <c:pt idx="68">
                  <c:v>Ukraine</c:v>
                </c:pt>
                <c:pt idx="69">
                  <c:v>United Arab Emirates</c:v>
                </c:pt>
                <c:pt idx="70">
                  <c:v>United Kingdom</c:v>
                </c:pt>
                <c:pt idx="71">
                  <c:v>United States</c:v>
                </c:pt>
                <c:pt idx="72">
                  <c:v>Venezuela</c:v>
                </c:pt>
                <c:pt idx="73">
                  <c:v>Vietnam</c:v>
                </c:pt>
                <c:pt idx="74">
                  <c:v>Yemen</c:v>
                </c:pt>
                <c:pt idx="75">
                  <c:v>Yugoslavia</c:v>
                </c:pt>
              </c:strCache>
            </c:strRef>
          </c:cat>
          <c:val>
            <c:numRef>
              <c:f>Question14!$H$31:$H$107</c:f>
              <c:numCache>
                <c:formatCode>General</c:formatCode>
                <c:ptCount val="76"/>
                <c:pt idx="0">
                  <c:v>2</c:v>
                </c:pt>
                <c:pt idx="1">
                  <c:v>5</c:v>
                </c:pt>
                <c:pt idx="2">
                  <c:v>9</c:v>
                </c:pt>
                <c:pt idx="3">
                  <c:v>3</c:v>
                </c:pt>
                <c:pt idx="4">
                  <c:v>7</c:v>
                </c:pt>
                <c:pt idx="5">
                  <c:v>3</c:v>
                </c:pt>
                <c:pt idx="6">
                  <c:v>4</c:v>
                </c:pt>
                <c:pt idx="7">
                  <c:v>45</c:v>
                </c:pt>
                <c:pt idx="8">
                  <c:v>3</c:v>
                </c:pt>
                <c:pt idx="9">
                  <c:v>3</c:v>
                </c:pt>
                <c:pt idx="10">
                  <c:v>3</c:v>
                </c:pt>
                <c:pt idx="11">
                  <c:v>4</c:v>
                </c:pt>
                <c:pt idx="12">
                  <c:v>5</c:v>
                </c:pt>
                <c:pt idx="13">
                  <c:v>44</c:v>
                </c:pt>
                <c:pt idx="14">
                  <c:v>20</c:v>
                </c:pt>
                <c:pt idx="15">
                  <c:v>6</c:v>
                </c:pt>
                <c:pt idx="16">
                  <c:v>6</c:v>
                </c:pt>
                <c:pt idx="17">
                  <c:v>4</c:v>
                </c:pt>
                <c:pt idx="18">
                  <c:v>5</c:v>
                </c:pt>
                <c:pt idx="19">
                  <c:v>19</c:v>
                </c:pt>
                <c:pt idx="20">
                  <c:v>6</c:v>
                </c:pt>
                <c:pt idx="21">
                  <c:v>6</c:v>
                </c:pt>
                <c:pt idx="22">
                  <c:v>3</c:v>
                </c:pt>
                <c:pt idx="23">
                  <c:v>81</c:v>
                </c:pt>
                <c:pt idx="24">
                  <c:v>6</c:v>
                </c:pt>
                <c:pt idx="25">
                  <c:v>9</c:v>
                </c:pt>
                <c:pt idx="26">
                  <c:v>7</c:v>
                </c:pt>
                <c:pt idx="27">
                  <c:v>4</c:v>
                </c:pt>
                <c:pt idx="28">
                  <c:v>34</c:v>
                </c:pt>
                <c:pt idx="29">
                  <c:v>2</c:v>
                </c:pt>
                <c:pt idx="31">
                  <c:v>4</c:v>
                </c:pt>
                <c:pt idx="32">
                  <c:v>4</c:v>
                </c:pt>
                <c:pt idx="33">
                  <c:v>6</c:v>
                </c:pt>
                <c:pt idx="34">
                  <c:v>2</c:v>
                </c:pt>
                <c:pt idx="35">
                  <c:v>5</c:v>
                </c:pt>
                <c:pt idx="36">
                  <c:v>8</c:v>
                </c:pt>
                <c:pt idx="37">
                  <c:v>19</c:v>
                </c:pt>
                <c:pt idx="38">
                  <c:v>2</c:v>
                </c:pt>
                <c:pt idx="39">
                  <c:v>4</c:v>
                </c:pt>
                <c:pt idx="40">
                  <c:v>1</c:v>
                </c:pt>
                <c:pt idx="41">
                  <c:v>4</c:v>
                </c:pt>
                <c:pt idx="42">
                  <c:v>6</c:v>
                </c:pt>
                <c:pt idx="43">
                  <c:v>5</c:v>
                </c:pt>
                <c:pt idx="44">
                  <c:v>24</c:v>
                </c:pt>
                <c:pt idx="45">
                  <c:v>4</c:v>
                </c:pt>
                <c:pt idx="46">
                  <c:v>5</c:v>
                </c:pt>
                <c:pt idx="47">
                  <c:v>8</c:v>
                </c:pt>
                <c:pt idx="48">
                  <c:v>5</c:v>
                </c:pt>
                <c:pt idx="49">
                  <c:v>3</c:v>
                </c:pt>
                <c:pt idx="50">
                  <c:v>23</c:v>
                </c:pt>
                <c:pt idx="51">
                  <c:v>3</c:v>
                </c:pt>
                <c:pt idx="52">
                  <c:v>6</c:v>
                </c:pt>
                <c:pt idx="53">
                  <c:v>8</c:v>
                </c:pt>
                <c:pt idx="54">
                  <c:v>39</c:v>
                </c:pt>
                <c:pt idx="55">
                  <c:v>7</c:v>
                </c:pt>
                <c:pt idx="56">
                  <c:v>21</c:v>
                </c:pt>
                <c:pt idx="57">
                  <c:v>6</c:v>
                </c:pt>
                <c:pt idx="58">
                  <c:v>3</c:v>
                </c:pt>
                <c:pt idx="59">
                  <c:v>8</c:v>
                </c:pt>
                <c:pt idx="60">
                  <c:v>2</c:v>
                </c:pt>
                <c:pt idx="61">
                  <c:v>5</c:v>
                </c:pt>
                <c:pt idx="62">
                  <c:v>18</c:v>
                </c:pt>
                <c:pt idx="63">
                  <c:v>10</c:v>
                </c:pt>
                <c:pt idx="64">
                  <c:v>10</c:v>
                </c:pt>
                <c:pt idx="65">
                  <c:v>20</c:v>
                </c:pt>
                <c:pt idx="66">
                  <c:v>4</c:v>
                </c:pt>
                <c:pt idx="68">
                  <c:v>13</c:v>
                </c:pt>
                <c:pt idx="69">
                  <c:v>2</c:v>
                </c:pt>
                <c:pt idx="70">
                  <c:v>11</c:v>
                </c:pt>
                <c:pt idx="71">
                  <c:v>57</c:v>
                </c:pt>
                <c:pt idx="72">
                  <c:v>12</c:v>
                </c:pt>
                <c:pt idx="73">
                  <c:v>4</c:v>
                </c:pt>
                <c:pt idx="74">
                  <c:v>7</c:v>
                </c:pt>
                <c:pt idx="75">
                  <c:v>2</c:v>
                </c:pt>
              </c:numCache>
            </c:numRef>
          </c:val>
          <c:extLst>
            <c:ext xmlns:c16="http://schemas.microsoft.com/office/drawing/2014/chart" uri="{C3380CC4-5D6E-409C-BE32-E72D297353CC}">
              <c16:uniqueId val="{00000000-DFB7-4676-B245-8658780E7656}"/>
            </c:ext>
          </c:extLst>
        </c:ser>
        <c:ser>
          <c:idx val="1"/>
          <c:order val="1"/>
          <c:tx>
            <c:strRef>
              <c:f>Question14!$I$29:$I$30</c:f>
              <c:strCache>
                <c:ptCount val="1"/>
                <c:pt idx="0">
                  <c:v>NC-17</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Question14!$G$31:$G$107</c:f>
              <c:strCache>
                <c:ptCount val="76"/>
                <c:pt idx="0">
                  <c:v>Afghanistan</c:v>
                </c:pt>
                <c:pt idx="1">
                  <c:v>Algeria</c:v>
                </c:pt>
                <c:pt idx="2">
                  <c:v>Argentina</c:v>
                </c:pt>
                <c:pt idx="3">
                  <c:v>Armenia</c:v>
                </c:pt>
                <c:pt idx="4">
                  <c:v>Austria</c:v>
                </c:pt>
                <c:pt idx="5">
                  <c:v>Bangladesh</c:v>
                </c:pt>
                <c:pt idx="6">
                  <c:v>Belarus</c:v>
                </c:pt>
                <c:pt idx="7">
                  <c:v>Brazil</c:v>
                </c:pt>
                <c:pt idx="8">
                  <c:v>Brunei</c:v>
                </c:pt>
                <c:pt idx="9">
                  <c:v>Bulgaria</c:v>
                </c:pt>
                <c:pt idx="10">
                  <c:v>Cambodia</c:v>
                </c:pt>
                <c:pt idx="11">
                  <c:v>Canada</c:v>
                </c:pt>
                <c:pt idx="12">
                  <c:v>Chile</c:v>
                </c:pt>
                <c:pt idx="13">
                  <c:v>China</c:v>
                </c:pt>
                <c:pt idx="14">
                  <c:v>Colombia</c:v>
                </c:pt>
                <c:pt idx="15">
                  <c:v>Egypt</c:v>
                </c:pt>
                <c:pt idx="16">
                  <c:v>France</c:v>
                </c:pt>
                <c:pt idx="17">
                  <c:v>French Guiana</c:v>
                </c:pt>
                <c:pt idx="18">
                  <c:v>French Polynesia</c:v>
                </c:pt>
                <c:pt idx="19">
                  <c:v>Germany</c:v>
                </c:pt>
                <c:pt idx="20">
                  <c:v>Greece</c:v>
                </c:pt>
                <c:pt idx="21">
                  <c:v>Greenland</c:v>
                </c:pt>
                <c:pt idx="22">
                  <c:v>Holy See (Vatican City State)</c:v>
                </c:pt>
                <c:pt idx="23">
                  <c:v>India</c:v>
                </c:pt>
                <c:pt idx="24">
                  <c:v>Indonesia</c:v>
                </c:pt>
                <c:pt idx="25">
                  <c:v>Iran</c:v>
                </c:pt>
                <c:pt idx="26">
                  <c:v>Israel</c:v>
                </c:pt>
                <c:pt idx="27">
                  <c:v>Italy</c:v>
                </c:pt>
                <c:pt idx="28">
                  <c:v>Japan</c:v>
                </c:pt>
                <c:pt idx="29">
                  <c:v>Kazakstan</c:v>
                </c:pt>
                <c:pt idx="30">
                  <c:v>Kenya</c:v>
                </c:pt>
                <c:pt idx="31">
                  <c:v>Kuwait</c:v>
                </c:pt>
                <c:pt idx="32">
                  <c:v>Latvia</c:v>
                </c:pt>
                <c:pt idx="33">
                  <c:v>Liechtenstein</c:v>
                </c:pt>
                <c:pt idx="34">
                  <c:v>Madagascar</c:v>
                </c:pt>
                <c:pt idx="35">
                  <c:v>Malawi</c:v>
                </c:pt>
                <c:pt idx="36">
                  <c:v>Malaysia</c:v>
                </c:pt>
                <c:pt idx="37">
                  <c:v>Mexico</c:v>
                </c:pt>
                <c:pt idx="38">
                  <c:v>Moldova</c:v>
                </c:pt>
                <c:pt idx="39">
                  <c:v>Morocco</c:v>
                </c:pt>
                <c:pt idx="40">
                  <c:v>Mozambique</c:v>
                </c:pt>
                <c:pt idx="41">
                  <c:v>Myanmar</c:v>
                </c:pt>
                <c:pt idx="42">
                  <c:v>Netherlands</c:v>
                </c:pt>
                <c:pt idx="43">
                  <c:v>New Zealand</c:v>
                </c:pt>
                <c:pt idx="44">
                  <c:v>Nigeria</c:v>
                </c:pt>
                <c:pt idx="45">
                  <c:v>North Korea</c:v>
                </c:pt>
                <c:pt idx="46">
                  <c:v>Oman</c:v>
                </c:pt>
                <c:pt idx="47">
                  <c:v>Pakistan</c:v>
                </c:pt>
                <c:pt idx="48">
                  <c:v>Paraguay</c:v>
                </c:pt>
                <c:pt idx="49">
                  <c:v>Peru</c:v>
                </c:pt>
                <c:pt idx="50">
                  <c:v>Philippines</c:v>
                </c:pt>
                <c:pt idx="51">
                  <c:v>Poland</c:v>
                </c:pt>
                <c:pt idx="52">
                  <c:v>Réunio</c:v>
                </c:pt>
                <c:pt idx="53">
                  <c:v>Romania</c:v>
                </c:pt>
                <c:pt idx="54">
                  <c:v>Russian Federation</c:v>
                </c:pt>
                <c:pt idx="55">
                  <c:v>Saudi Arabia</c:v>
                </c:pt>
                <c:pt idx="56">
                  <c:v>South Africa</c:v>
                </c:pt>
                <c:pt idx="57">
                  <c:v>South Korea</c:v>
                </c:pt>
                <c:pt idx="58">
                  <c:v>Spain</c:v>
                </c:pt>
                <c:pt idx="59">
                  <c:v>Sudan</c:v>
                </c:pt>
                <c:pt idx="60">
                  <c:v>Sweden</c:v>
                </c:pt>
                <c:pt idx="61">
                  <c:v>Switzerland</c:v>
                </c:pt>
                <c:pt idx="62">
                  <c:v>Taiwan</c:v>
                </c:pt>
                <c:pt idx="63">
                  <c:v>Tanzania</c:v>
                </c:pt>
                <c:pt idx="64">
                  <c:v>Thailand</c:v>
                </c:pt>
                <c:pt idx="65">
                  <c:v>Turkey</c:v>
                </c:pt>
                <c:pt idx="66">
                  <c:v>Turkmenistan</c:v>
                </c:pt>
                <c:pt idx="67">
                  <c:v>Tuvalu</c:v>
                </c:pt>
                <c:pt idx="68">
                  <c:v>Ukraine</c:v>
                </c:pt>
                <c:pt idx="69">
                  <c:v>United Arab Emirates</c:v>
                </c:pt>
                <c:pt idx="70">
                  <c:v>United Kingdom</c:v>
                </c:pt>
                <c:pt idx="71">
                  <c:v>United States</c:v>
                </c:pt>
                <c:pt idx="72">
                  <c:v>Venezuela</c:v>
                </c:pt>
                <c:pt idx="73">
                  <c:v>Vietnam</c:v>
                </c:pt>
                <c:pt idx="74">
                  <c:v>Yemen</c:v>
                </c:pt>
                <c:pt idx="75">
                  <c:v>Yugoslavia</c:v>
                </c:pt>
              </c:strCache>
            </c:strRef>
          </c:cat>
          <c:val>
            <c:numRef>
              <c:f>Question14!$I$31:$I$107</c:f>
              <c:numCache>
                <c:formatCode>General</c:formatCode>
                <c:ptCount val="76"/>
                <c:pt idx="0">
                  <c:v>3</c:v>
                </c:pt>
                <c:pt idx="1">
                  <c:v>5</c:v>
                </c:pt>
                <c:pt idx="2">
                  <c:v>17</c:v>
                </c:pt>
                <c:pt idx="3">
                  <c:v>2</c:v>
                </c:pt>
                <c:pt idx="4">
                  <c:v>6</c:v>
                </c:pt>
                <c:pt idx="5">
                  <c:v>4</c:v>
                </c:pt>
                <c:pt idx="6">
                  <c:v>6</c:v>
                </c:pt>
                <c:pt idx="7">
                  <c:v>47</c:v>
                </c:pt>
                <c:pt idx="8">
                  <c:v>9</c:v>
                </c:pt>
                <c:pt idx="9">
                  <c:v>3</c:v>
                </c:pt>
                <c:pt idx="10">
                  <c:v>6</c:v>
                </c:pt>
                <c:pt idx="11">
                  <c:v>3</c:v>
                </c:pt>
                <c:pt idx="12">
                  <c:v>3</c:v>
                </c:pt>
                <c:pt idx="13">
                  <c:v>57</c:v>
                </c:pt>
                <c:pt idx="14">
                  <c:v>22</c:v>
                </c:pt>
                <c:pt idx="15">
                  <c:v>12</c:v>
                </c:pt>
                <c:pt idx="16">
                  <c:v>11</c:v>
                </c:pt>
                <c:pt idx="17">
                  <c:v>4</c:v>
                </c:pt>
                <c:pt idx="18">
                  <c:v>10</c:v>
                </c:pt>
                <c:pt idx="19">
                  <c:v>20</c:v>
                </c:pt>
                <c:pt idx="20">
                  <c:v>1</c:v>
                </c:pt>
                <c:pt idx="21">
                  <c:v>7</c:v>
                </c:pt>
                <c:pt idx="22">
                  <c:v>6</c:v>
                </c:pt>
                <c:pt idx="23">
                  <c:v>104</c:v>
                </c:pt>
                <c:pt idx="24">
                  <c:v>10</c:v>
                </c:pt>
                <c:pt idx="25">
                  <c:v>11</c:v>
                </c:pt>
                <c:pt idx="26">
                  <c:v>14</c:v>
                </c:pt>
                <c:pt idx="27">
                  <c:v>5</c:v>
                </c:pt>
                <c:pt idx="28">
                  <c:v>47</c:v>
                </c:pt>
                <c:pt idx="29">
                  <c:v>7</c:v>
                </c:pt>
                <c:pt idx="30">
                  <c:v>3</c:v>
                </c:pt>
                <c:pt idx="31">
                  <c:v>3</c:v>
                </c:pt>
                <c:pt idx="32">
                  <c:v>4</c:v>
                </c:pt>
                <c:pt idx="33">
                  <c:v>3</c:v>
                </c:pt>
                <c:pt idx="34">
                  <c:v>4</c:v>
                </c:pt>
                <c:pt idx="35">
                  <c:v>2</c:v>
                </c:pt>
                <c:pt idx="36">
                  <c:v>6</c:v>
                </c:pt>
                <c:pt idx="37">
                  <c:v>29</c:v>
                </c:pt>
                <c:pt idx="38">
                  <c:v>4</c:v>
                </c:pt>
                <c:pt idx="39">
                  <c:v>6</c:v>
                </c:pt>
                <c:pt idx="40">
                  <c:v>7</c:v>
                </c:pt>
                <c:pt idx="41">
                  <c:v>1</c:v>
                </c:pt>
                <c:pt idx="42">
                  <c:v>10</c:v>
                </c:pt>
                <c:pt idx="43">
                  <c:v>6</c:v>
                </c:pt>
                <c:pt idx="44">
                  <c:v>19</c:v>
                </c:pt>
                <c:pt idx="45">
                  <c:v>5</c:v>
                </c:pt>
                <c:pt idx="46">
                  <c:v>1</c:v>
                </c:pt>
                <c:pt idx="47">
                  <c:v>12</c:v>
                </c:pt>
                <c:pt idx="48">
                  <c:v>6</c:v>
                </c:pt>
                <c:pt idx="49">
                  <c:v>3</c:v>
                </c:pt>
                <c:pt idx="50">
                  <c:v>34</c:v>
                </c:pt>
                <c:pt idx="51">
                  <c:v>6</c:v>
                </c:pt>
                <c:pt idx="52">
                  <c:v>2</c:v>
                </c:pt>
                <c:pt idx="53">
                  <c:v>8</c:v>
                </c:pt>
                <c:pt idx="54">
                  <c:v>39</c:v>
                </c:pt>
                <c:pt idx="55">
                  <c:v>9</c:v>
                </c:pt>
                <c:pt idx="56">
                  <c:v>27</c:v>
                </c:pt>
                <c:pt idx="57">
                  <c:v>11</c:v>
                </c:pt>
                <c:pt idx="58">
                  <c:v>2</c:v>
                </c:pt>
                <c:pt idx="59">
                  <c:v>6</c:v>
                </c:pt>
                <c:pt idx="60">
                  <c:v>6</c:v>
                </c:pt>
                <c:pt idx="61">
                  <c:v>4</c:v>
                </c:pt>
                <c:pt idx="62">
                  <c:v>24</c:v>
                </c:pt>
                <c:pt idx="63">
                  <c:v>6</c:v>
                </c:pt>
                <c:pt idx="64">
                  <c:v>10</c:v>
                </c:pt>
                <c:pt idx="65">
                  <c:v>23</c:v>
                </c:pt>
                <c:pt idx="66">
                  <c:v>3</c:v>
                </c:pt>
                <c:pt idx="67">
                  <c:v>8</c:v>
                </c:pt>
                <c:pt idx="68">
                  <c:v>12</c:v>
                </c:pt>
                <c:pt idx="69">
                  <c:v>4</c:v>
                </c:pt>
                <c:pt idx="70">
                  <c:v>12</c:v>
                </c:pt>
                <c:pt idx="71">
                  <c:v>68</c:v>
                </c:pt>
                <c:pt idx="72">
                  <c:v>11</c:v>
                </c:pt>
                <c:pt idx="73">
                  <c:v>6</c:v>
                </c:pt>
                <c:pt idx="74">
                  <c:v>12</c:v>
                </c:pt>
                <c:pt idx="75">
                  <c:v>5</c:v>
                </c:pt>
              </c:numCache>
            </c:numRef>
          </c:val>
          <c:extLst>
            <c:ext xmlns:c16="http://schemas.microsoft.com/office/drawing/2014/chart" uri="{C3380CC4-5D6E-409C-BE32-E72D297353CC}">
              <c16:uniqueId val="{00000001-DFB7-4676-B245-8658780E7656}"/>
            </c:ext>
          </c:extLst>
        </c:ser>
        <c:ser>
          <c:idx val="2"/>
          <c:order val="2"/>
          <c:tx>
            <c:strRef>
              <c:f>Question14!$J$29:$J$30</c:f>
              <c:strCache>
                <c:ptCount val="1"/>
                <c:pt idx="0">
                  <c:v>PG</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Question14!$G$31:$G$107</c:f>
              <c:strCache>
                <c:ptCount val="76"/>
                <c:pt idx="0">
                  <c:v>Afghanistan</c:v>
                </c:pt>
                <c:pt idx="1">
                  <c:v>Algeria</c:v>
                </c:pt>
                <c:pt idx="2">
                  <c:v>Argentina</c:v>
                </c:pt>
                <c:pt idx="3">
                  <c:v>Armenia</c:v>
                </c:pt>
                <c:pt idx="4">
                  <c:v>Austria</c:v>
                </c:pt>
                <c:pt idx="5">
                  <c:v>Bangladesh</c:v>
                </c:pt>
                <c:pt idx="6">
                  <c:v>Belarus</c:v>
                </c:pt>
                <c:pt idx="7">
                  <c:v>Brazil</c:v>
                </c:pt>
                <c:pt idx="8">
                  <c:v>Brunei</c:v>
                </c:pt>
                <c:pt idx="9">
                  <c:v>Bulgaria</c:v>
                </c:pt>
                <c:pt idx="10">
                  <c:v>Cambodia</c:v>
                </c:pt>
                <c:pt idx="11">
                  <c:v>Canada</c:v>
                </c:pt>
                <c:pt idx="12">
                  <c:v>Chile</c:v>
                </c:pt>
                <c:pt idx="13">
                  <c:v>China</c:v>
                </c:pt>
                <c:pt idx="14">
                  <c:v>Colombia</c:v>
                </c:pt>
                <c:pt idx="15">
                  <c:v>Egypt</c:v>
                </c:pt>
                <c:pt idx="16">
                  <c:v>France</c:v>
                </c:pt>
                <c:pt idx="17">
                  <c:v>French Guiana</c:v>
                </c:pt>
                <c:pt idx="18">
                  <c:v>French Polynesia</c:v>
                </c:pt>
                <c:pt idx="19">
                  <c:v>Germany</c:v>
                </c:pt>
                <c:pt idx="20">
                  <c:v>Greece</c:v>
                </c:pt>
                <c:pt idx="21">
                  <c:v>Greenland</c:v>
                </c:pt>
                <c:pt idx="22">
                  <c:v>Holy See (Vatican City State)</c:v>
                </c:pt>
                <c:pt idx="23">
                  <c:v>India</c:v>
                </c:pt>
                <c:pt idx="24">
                  <c:v>Indonesia</c:v>
                </c:pt>
                <c:pt idx="25">
                  <c:v>Iran</c:v>
                </c:pt>
                <c:pt idx="26">
                  <c:v>Israel</c:v>
                </c:pt>
                <c:pt idx="27">
                  <c:v>Italy</c:v>
                </c:pt>
                <c:pt idx="28">
                  <c:v>Japan</c:v>
                </c:pt>
                <c:pt idx="29">
                  <c:v>Kazakstan</c:v>
                </c:pt>
                <c:pt idx="30">
                  <c:v>Kenya</c:v>
                </c:pt>
                <c:pt idx="31">
                  <c:v>Kuwait</c:v>
                </c:pt>
                <c:pt idx="32">
                  <c:v>Latvia</c:v>
                </c:pt>
                <c:pt idx="33">
                  <c:v>Liechtenstein</c:v>
                </c:pt>
                <c:pt idx="34">
                  <c:v>Madagascar</c:v>
                </c:pt>
                <c:pt idx="35">
                  <c:v>Malawi</c:v>
                </c:pt>
                <c:pt idx="36">
                  <c:v>Malaysia</c:v>
                </c:pt>
                <c:pt idx="37">
                  <c:v>Mexico</c:v>
                </c:pt>
                <c:pt idx="38">
                  <c:v>Moldova</c:v>
                </c:pt>
                <c:pt idx="39">
                  <c:v>Morocco</c:v>
                </c:pt>
                <c:pt idx="40">
                  <c:v>Mozambique</c:v>
                </c:pt>
                <c:pt idx="41">
                  <c:v>Myanmar</c:v>
                </c:pt>
                <c:pt idx="42">
                  <c:v>Netherlands</c:v>
                </c:pt>
                <c:pt idx="43">
                  <c:v>New Zealand</c:v>
                </c:pt>
                <c:pt idx="44">
                  <c:v>Nigeria</c:v>
                </c:pt>
                <c:pt idx="45">
                  <c:v>North Korea</c:v>
                </c:pt>
                <c:pt idx="46">
                  <c:v>Oman</c:v>
                </c:pt>
                <c:pt idx="47">
                  <c:v>Pakistan</c:v>
                </c:pt>
                <c:pt idx="48">
                  <c:v>Paraguay</c:v>
                </c:pt>
                <c:pt idx="49">
                  <c:v>Peru</c:v>
                </c:pt>
                <c:pt idx="50">
                  <c:v>Philippines</c:v>
                </c:pt>
                <c:pt idx="51">
                  <c:v>Poland</c:v>
                </c:pt>
                <c:pt idx="52">
                  <c:v>Réunio</c:v>
                </c:pt>
                <c:pt idx="53">
                  <c:v>Romania</c:v>
                </c:pt>
                <c:pt idx="54">
                  <c:v>Russian Federation</c:v>
                </c:pt>
                <c:pt idx="55">
                  <c:v>Saudi Arabia</c:v>
                </c:pt>
                <c:pt idx="56">
                  <c:v>South Africa</c:v>
                </c:pt>
                <c:pt idx="57">
                  <c:v>South Korea</c:v>
                </c:pt>
                <c:pt idx="58">
                  <c:v>Spain</c:v>
                </c:pt>
                <c:pt idx="59">
                  <c:v>Sudan</c:v>
                </c:pt>
                <c:pt idx="60">
                  <c:v>Sweden</c:v>
                </c:pt>
                <c:pt idx="61">
                  <c:v>Switzerland</c:v>
                </c:pt>
                <c:pt idx="62">
                  <c:v>Taiwan</c:v>
                </c:pt>
                <c:pt idx="63">
                  <c:v>Tanzania</c:v>
                </c:pt>
                <c:pt idx="64">
                  <c:v>Thailand</c:v>
                </c:pt>
                <c:pt idx="65">
                  <c:v>Turkey</c:v>
                </c:pt>
                <c:pt idx="66">
                  <c:v>Turkmenistan</c:v>
                </c:pt>
                <c:pt idx="67">
                  <c:v>Tuvalu</c:v>
                </c:pt>
                <c:pt idx="68">
                  <c:v>Ukraine</c:v>
                </c:pt>
                <c:pt idx="69">
                  <c:v>United Arab Emirates</c:v>
                </c:pt>
                <c:pt idx="70">
                  <c:v>United Kingdom</c:v>
                </c:pt>
                <c:pt idx="71">
                  <c:v>United States</c:v>
                </c:pt>
                <c:pt idx="72">
                  <c:v>Venezuela</c:v>
                </c:pt>
                <c:pt idx="73">
                  <c:v>Vietnam</c:v>
                </c:pt>
                <c:pt idx="74">
                  <c:v>Yemen</c:v>
                </c:pt>
                <c:pt idx="75">
                  <c:v>Yugoslavia</c:v>
                </c:pt>
              </c:strCache>
            </c:strRef>
          </c:cat>
          <c:val>
            <c:numRef>
              <c:f>Question14!$J$31:$J$107</c:f>
              <c:numCache>
                <c:formatCode>General</c:formatCode>
                <c:ptCount val="76"/>
                <c:pt idx="0">
                  <c:v>1</c:v>
                </c:pt>
                <c:pt idx="1">
                  <c:v>12</c:v>
                </c:pt>
                <c:pt idx="2">
                  <c:v>26</c:v>
                </c:pt>
                <c:pt idx="3">
                  <c:v>6</c:v>
                </c:pt>
                <c:pt idx="4">
                  <c:v>8</c:v>
                </c:pt>
                <c:pt idx="5">
                  <c:v>4</c:v>
                </c:pt>
                <c:pt idx="6">
                  <c:v>8</c:v>
                </c:pt>
                <c:pt idx="7">
                  <c:v>36</c:v>
                </c:pt>
                <c:pt idx="8">
                  <c:v>4</c:v>
                </c:pt>
                <c:pt idx="9">
                  <c:v>3</c:v>
                </c:pt>
                <c:pt idx="10">
                  <c:v>4</c:v>
                </c:pt>
                <c:pt idx="11">
                  <c:v>6</c:v>
                </c:pt>
                <c:pt idx="12">
                  <c:v>3</c:v>
                </c:pt>
                <c:pt idx="13">
                  <c:v>64</c:v>
                </c:pt>
                <c:pt idx="14">
                  <c:v>8</c:v>
                </c:pt>
                <c:pt idx="15">
                  <c:v>12</c:v>
                </c:pt>
                <c:pt idx="16">
                  <c:v>12</c:v>
                </c:pt>
                <c:pt idx="17">
                  <c:v>3</c:v>
                </c:pt>
                <c:pt idx="18">
                  <c:v>6</c:v>
                </c:pt>
                <c:pt idx="19">
                  <c:v>19</c:v>
                </c:pt>
                <c:pt idx="21">
                  <c:v>4</c:v>
                </c:pt>
                <c:pt idx="22">
                  <c:v>7</c:v>
                </c:pt>
                <c:pt idx="23">
                  <c:v>103</c:v>
                </c:pt>
                <c:pt idx="24">
                  <c:v>12</c:v>
                </c:pt>
                <c:pt idx="25">
                  <c:v>12</c:v>
                </c:pt>
                <c:pt idx="26">
                  <c:v>10</c:v>
                </c:pt>
                <c:pt idx="27">
                  <c:v>9</c:v>
                </c:pt>
                <c:pt idx="28">
                  <c:v>48</c:v>
                </c:pt>
                <c:pt idx="29">
                  <c:v>2</c:v>
                </c:pt>
                <c:pt idx="30">
                  <c:v>3</c:v>
                </c:pt>
                <c:pt idx="31">
                  <c:v>4</c:v>
                </c:pt>
                <c:pt idx="32">
                  <c:v>7</c:v>
                </c:pt>
                <c:pt idx="33">
                  <c:v>5</c:v>
                </c:pt>
                <c:pt idx="34">
                  <c:v>2</c:v>
                </c:pt>
                <c:pt idx="35">
                  <c:v>5</c:v>
                </c:pt>
                <c:pt idx="36">
                  <c:v>5</c:v>
                </c:pt>
                <c:pt idx="37">
                  <c:v>28</c:v>
                </c:pt>
                <c:pt idx="38">
                  <c:v>6</c:v>
                </c:pt>
                <c:pt idx="39">
                  <c:v>3</c:v>
                </c:pt>
                <c:pt idx="40">
                  <c:v>2</c:v>
                </c:pt>
                <c:pt idx="41">
                  <c:v>4</c:v>
                </c:pt>
                <c:pt idx="42">
                  <c:v>5</c:v>
                </c:pt>
                <c:pt idx="43">
                  <c:v>3</c:v>
                </c:pt>
                <c:pt idx="44">
                  <c:v>27</c:v>
                </c:pt>
                <c:pt idx="45">
                  <c:v>4</c:v>
                </c:pt>
                <c:pt idx="46">
                  <c:v>3</c:v>
                </c:pt>
                <c:pt idx="47">
                  <c:v>12</c:v>
                </c:pt>
                <c:pt idx="48">
                  <c:v>3</c:v>
                </c:pt>
                <c:pt idx="49">
                  <c:v>6</c:v>
                </c:pt>
                <c:pt idx="50">
                  <c:v>20</c:v>
                </c:pt>
                <c:pt idx="51">
                  <c:v>5</c:v>
                </c:pt>
                <c:pt idx="52">
                  <c:v>9</c:v>
                </c:pt>
                <c:pt idx="53">
                  <c:v>2</c:v>
                </c:pt>
                <c:pt idx="54">
                  <c:v>43</c:v>
                </c:pt>
                <c:pt idx="55">
                  <c:v>11</c:v>
                </c:pt>
                <c:pt idx="56">
                  <c:v>21</c:v>
                </c:pt>
                <c:pt idx="57">
                  <c:v>4</c:v>
                </c:pt>
                <c:pt idx="58">
                  <c:v>3</c:v>
                </c:pt>
                <c:pt idx="59">
                  <c:v>5</c:v>
                </c:pt>
                <c:pt idx="60">
                  <c:v>6</c:v>
                </c:pt>
                <c:pt idx="61">
                  <c:v>4</c:v>
                </c:pt>
                <c:pt idx="62">
                  <c:v>25</c:v>
                </c:pt>
                <c:pt idx="63">
                  <c:v>6</c:v>
                </c:pt>
                <c:pt idx="64">
                  <c:v>13</c:v>
                </c:pt>
                <c:pt idx="65">
                  <c:v>20</c:v>
                </c:pt>
                <c:pt idx="66">
                  <c:v>4</c:v>
                </c:pt>
                <c:pt idx="67">
                  <c:v>3</c:v>
                </c:pt>
                <c:pt idx="68">
                  <c:v>10</c:v>
                </c:pt>
                <c:pt idx="69">
                  <c:v>6</c:v>
                </c:pt>
                <c:pt idx="70">
                  <c:v>10</c:v>
                </c:pt>
                <c:pt idx="71">
                  <c:v>57</c:v>
                </c:pt>
                <c:pt idx="72">
                  <c:v>13</c:v>
                </c:pt>
                <c:pt idx="73">
                  <c:v>2</c:v>
                </c:pt>
                <c:pt idx="74">
                  <c:v>7</c:v>
                </c:pt>
                <c:pt idx="75">
                  <c:v>5</c:v>
                </c:pt>
              </c:numCache>
            </c:numRef>
          </c:val>
          <c:extLst>
            <c:ext xmlns:c16="http://schemas.microsoft.com/office/drawing/2014/chart" uri="{C3380CC4-5D6E-409C-BE32-E72D297353CC}">
              <c16:uniqueId val="{00000002-DFB7-4676-B245-8658780E7656}"/>
            </c:ext>
          </c:extLst>
        </c:ser>
        <c:ser>
          <c:idx val="3"/>
          <c:order val="3"/>
          <c:tx>
            <c:strRef>
              <c:f>Question14!$K$29:$K$30</c:f>
              <c:strCache>
                <c:ptCount val="1"/>
                <c:pt idx="0">
                  <c:v>PG-13</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Question14!$G$31:$G$107</c:f>
              <c:strCache>
                <c:ptCount val="76"/>
                <c:pt idx="0">
                  <c:v>Afghanistan</c:v>
                </c:pt>
                <c:pt idx="1">
                  <c:v>Algeria</c:v>
                </c:pt>
                <c:pt idx="2">
                  <c:v>Argentina</c:v>
                </c:pt>
                <c:pt idx="3">
                  <c:v>Armenia</c:v>
                </c:pt>
                <c:pt idx="4">
                  <c:v>Austria</c:v>
                </c:pt>
                <c:pt idx="5">
                  <c:v>Bangladesh</c:v>
                </c:pt>
                <c:pt idx="6">
                  <c:v>Belarus</c:v>
                </c:pt>
                <c:pt idx="7">
                  <c:v>Brazil</c:v>
                </c:pt>
                <c:pt idx="8">
                  <c:v>Brunei</c:v>
                </c:pt>
                <c:pt idx="9">
                  <c:v>Bulgaria</c:v>
                </c:pt>
                <c:pt idx="10">
                  <c:v>Cambodia</c:v>
                </c:pt>
                <c:pt idx="11">
                  <c:v>Canada</c:v>
                </c:pt>
                <c:pt idx="12">
                  <c:v>Chile</c:v>
                </c:pt>
                <c:pt idx="13">
                  <c:v>China</c:v>
                </c:pt>
                <c:pt idx="14">
                  <c:v>Colombia</c:v>
                </c:pt>
                <c:pt idx="15">
                  <c:v>Egypt</c:v>
                </c:pt>
                <c:pt idx="16">
                  <c:v>France</c:v>
                </c:pt>
                <c:pt idx="17">
                  <c:v>French Guiana</c:v>
                </c:pt>
                <c:pt idx="18">
                  <c:v>French Polynesia</c:v>
                </c:pt>
                <c:pt idx="19">
                  <c:v>Germany</c:v>
                </c:pt>
                <c:pt idx="20">
                  <c:v>Greece</c:v>
                </c:pt>
                <c:pt idx="21">
                  <c:v>Greenland</c:v>
                </c:pt>
                <c:pt idx="22">
                  <c:v>Holy See (Vatican City State)</c:v>
                </c:pt>
                <c:pt idx="23">
                  <c:v>India</c:v>
                </c:pt>
                <c:pt idx="24">
                  <c:v>Indonesia</c:v>
                </c:pt>
                <c:pt idx="25">
                  <c:v>Iran</c:v>
                </c:pt>
                <c:pt idx="26">
                  <c:v>Israel</c:v>
                </c:pt>
                <c:pt idx="27">
                  <c:v>Italy</c:v>
                </c:pt>
                <c:pt idx="28">
                  <c:v>Japan</c:v>
                </c:pt>
                <c:pt idx="29">
                  <c:v>Kazakstan</c:v>
                </c:pt>
                <c:pt idx="30">
                  <c:v>Kenya</c:v>
                </c:pt>
                <c:pt idx="31">
                  <c:v>Kuwait</c:v>
                </c:pt>
                <c:pt idx="32">
                  <c:v>Latvia</c:v>
                </c:pt>
                <c:pt idx="33">
                  <c:v>Liechtenstein</c:v>
                </c:pt>
                <c:pt idx="34">
                  <c:v>Madagascar</c:v>
                </c:pt>
                <c:pt idx="35">
                  <c:v>Malawi</c:v>
                </c:pt>
                <c:pt idx="36">
                  <c:v>Malaysia</c:v>
                </c:pt>
                <c:pt idx="37">
                  <c:v>Mexico</c:v>
                </c:pt>
                <c:pt idx="38">
                  <c:v>Moldova</c:v>
                </c:pt>
                <c:pt idx="39">
                  <c:v>Morocco</c:v>
                </c:pt>
                <c:pt idx="40">
                  <c:v>Mozambique</c:v>
                </c:pt>
                <c:pt idx="41">
                  <c:v>Myanmar</c:v>
                </c:pt>
                <c:pt idx="42">
                  <c:v>Netherlands</c:v>
                </c:pt>
                <c:pt idx="43">
                  <c:v>New Zealand</c:v>
                </c:pt>
                <c:pt idx="44">
                  <c:v>Nigeria</c:v>
                </c:pt>
                <c:pt idx="45">
                  <c:v>North Korea</c:v>
                </c:pt>
                <c:pt idx="46">
                  <c:v>Oman</c:v>
                </c:pt>
                <c:pt idx="47">
                  <c:v>Pakistan</c:v>
                </c:pt>
                <c:pt idx="48">
                  <c:v>Paraguay</c:v>
                </c:pt>
                <c:pt idx="49">
                  <c:v>Peru</c:v>
                </c:pt>
                <c:pt idx="50">
                  <c:v>Philippines</c:v>
                </c:pt>
                <c:pt idx="51">
                  <c:v>Poland</c:v>
                </c:pt>
                <c:pt idx="52">
                  <c:v>Réunio</c:v>
                </c:pt>
                <c:pt idx="53">
                  <c:v>Romania</c:v>
                </c:pt>
                <c:pt idx="54">
                  <c:v>Russian Federation</c:v>
                </c:pt>
                <c:pt idx="55">
                  <c:v>Saudi Arabia</c:v>
                </c:pt>
                <c:pt idx="56">
                  <c:v>South Africa</c:v>
                </c:pt>
                <c:pt idx="57">
                  <c:v>South Korea</c:v>
                </c:pt>
                <c:pt idx="58">
                  <c:v>Spain</c:v>
                </c:pt>
                <c:pt idx="59">
                  <c:v>Sudan</c:v>
                </c:pt>
                <c:pt idx="60">
                  <c:v>Sweden</c:v>
                </c:pt>
                <c:pt idx="61">
                  <c:v>Switzerland</c:v>
                </c:pt>
                <c:pt idx="62">
                  <c:v>Taiwan</c:v>
                </c:pt>
                <c:pt idx="63">
                  <c:v>Tanzania</c:v>
                </c:pt>
                <c:pt idx="64">
                  <c:v>Thailand</c:v>
                </c:pt>
                <c:pt idx="65">
                  <c:v>Turkey</c:v>
                </c:pt>
                <c:pt idx="66">
                  <c:v>Turkmenistan</c:v>
                </c:pt>
                <c:pt idx="67">
                  <c:v>Tuvalu</c:v>
                </c:pt>
                <c:pt idx="68">
                  <c:v>Ukraine</c:v>
                </c:pt>
                <c:pt idx="69">
                  <c:v>United Arab Emirates</c:v>
                </c:pt>
                <c:pt idx="70">
                  <c:v>United Kingdom</c:v>
                </c:pt>
                <c:pt idx="71">
                  <c:v>United States</c:v>
                </c:pt>
                <c:pt idx="72">
                  <c:v>Venezuela</c:v>
                </c:pt>
                <c:pt idx="73">
                  <c:v>Vietnam</c:v>
                </c:pt>
                <c:pt idx="74">
                  <c:v>Yemen</c:v>
                </c:pt>
                <c:pt idx="75">
                  <c:v>Yugoslavia</c:v>
                </c:pt>
              </c:strCache>
            </c:strRef>
          </c:cat>
          <c:val>
            <c:numRef>
              <c:f>Question14!$K$31:$K$107</c:f>
              <c:numCache>
                <c:formatCode>General</c:formatCode>
                <c:ptCount val="76"/>
                <c:pt idx="0">
                  <c:v>2</c:v>
                </c:pt>
                <c:pt idx="1">
                  <c:v>14</c:v>
                </c:pt>
                <c:pt idx="2">
                  <c:v>18</c:v>
                </c:pt>
                <c:pt idx="3">
                  <c:v>8</c:v>
                </c:pt>
                <c:pt idx="4">
                  <c:v>10</c:v>
                </c:pt>
                <c:pt idx="5">
                  <c:v>5</c:v>
                </c:pt>
                <c:pt idx="6">
                  <c:v>9</c:v>
                </c:pt>
                <c:pt idx="7">
                  <c:v>62</c:v>
                </c:pt>
                <c:pt idx="8">
                  <c:v>6</c:v>
                </c:pt>
                <c:pt idx="9">
                  <c:v>4</c:v>
                </c:pt>
                <c:pt idx="10">
                  <c:v>7</c:v>
                </c:pt>
                <c:pt idx="11">
                  <c:v>1</c:v>
                </c:pt>
                <c:pt idx="12">
                  <c:v>5</c:v>
                </c:pt>
                <c:pt idx="13">
                  <c:v>60</c:v>
                </c:pt>
                <c:pt idx="14">
                  <c:v>15</c:v>
                </c:pt>
                <c:pt idx="15">
                  <c:v>15</c:v>
                </c:pt>
                <c:pt idx="16">
                  <c:v>15</c:v>
                </c:pt>
                <c:pt idx="18">
                  <c:v>7</c:v>
                </c:pt>
                <c:pt idx="19">
                  <c:v>19</c:v>
                </c:pt>
                <c:pt idx="20">
                  <c:v>4</c:v>
                </c:pt>
                <c:pt idx="21">
                  <c:v>4</c:v>
                </c:pt>
                <c:pt idx="22">
                  <c:v>5</c:v>
                </c:pt>
                <c:pt idx="23">
                  <c:v>110</c:v>
                </c:pt>
                <c:pt idx="24">
                  <c:v>8</c:v>
                </c:pt>
                <c:pt idx="25">
                  <c:v>12</c:v>
                </c:pt>
                <c:pt idx="26">
                  <c:v>10</c:v>
                </c:pt>
                <c:pt idx="27">
                  <c:v>7</c:v>
                </c:pt>
                <c:pt idx="28">
                  <c:v>45</c:v>
                </c:pt>
                <c:pt idx="29">
                  <c:v>4</c:v>
                </c:pt>
                <c:pt idx="30">
                  <c:v>5</c:v>
                </c:pt>
                <c:pt idx="31">
                  <c:v>3</c:v>
                </c:pt>
                <c:pt idx="32">
                  <c:v>3</c:v>
                </c:pt>
                <c:pt idx="33">
                  <c:v>4</c:v>
                </c:pt>
                <c:pt idx="34">
                  <c:v>2</c:v>
                </c:pt>
                <c:pt idx="35">
                  <c:v>4</c:v>
                </c:pt>
                <c:pt idx="36">
                  <c:v>9</c:v>
                </c:pt>
                <c:pt idx="37">
                  <c:v>22</c:v>
                </c:pt>
                <c:pt idx="38">
                  <c:v>6</c:v>
                </c:pt>
                <c:pt idx="39">
                  <c:v>6</c:v>
                </c:pt>
                <c:pt idx="40">
                  <c:v>4</c:v>
                </c:pt>
                <c:pt idx="41">
                  <c:v>2</c:v>
                </c:pt>
                <c:pt idx="42">
                  <c:v>12</c:v>
                </c:pt>
                <c:pt idx="43">
                  <c:v>3</c:v>
                </c:pt>
                <c:pt idx="44">
                  <c:v>26</c:v>
                </c:pt>
                <c:pt idx="45">
                  <c:v>5</c:v>
                </c:pt>
                <c:pt idx="46">
                  <c:v>4</c:v>
                </c:pt>
                <c:pt idx="47">
                  <c:v>14</c:v>
                </c:pt>
                <c:pt idx="48">
                  <c:v>6</c:v>
                </c:pt>
                <c:pt idx="49">
                  <c:v>8</c:v>
                </c:pt>
                <c:pt idx="50">
                  <c:v>26</c:v>
                </c:pt>
                <c:pt idx="51">
                  <c:v>2</c:v>
                </c:pt>
                <c:pt idx="52">
                  <c:v>6</c:v>
                </c:pt>
                <c:pt idx="53">
                  <c:v>4</c:v>
                </c:pt>
                <c:pt idx="54">
                  <c:v>49</c:v>
                </c:pt>
                <c:pt idx="55">
                  <c:v>16</c:v>
                </c:pt>
                <c:pt idx="56">
                  <c:v>24</c:v>
                </c:pt>
                <c:pt idx="57">
                  <c:v>8</c:v>
                </c:pt>
                <c:pt idx="58">
                  <c:v>4</c:v>
                </c:pt>
                <c:pt idx="59">
                  <c:v>6</c:v>
                </c:pt>
                <c:pt idx="60">
                  <c:v>6</c:v>
                </c:pt>
                <c:pt idx="61">
                  <c:v>9</c:v>
                </c:pt>
                <c:pt idx="62">
                  <c:v>23</c:v>
                </c:pt>
                <c:pt idx="63">
                  <c:v>9</c:v>
                </c:pt>
                <c:pt idx="64">
                  <c:v>7</c:v>
                </c:pt>
                <c:pt idx="65">
                  <c:v>28</c:v>
                </c:pt>
                <c:pt idx="66">
                  <c:v>6</c:v>
                </c:pt>
                <c:pt idx="67">
                  <c:v>5</c:v>
                </c:pt>
                <c:pt idx="68">
                  <c:v>12</c:v>
                </c:pt>
                <c:pt idx="69">
                  <c:v>5</c:v>
                </c:pt>
                <c:pt idx="70">
                  <c:v>8</c:v>
                </c:pt>
                <c:pt idx="71">
                  <c:v>77</c:v>
                </c:pt>
                <c:pt idx="72">
                  <c:v>5</c:v>
                </c:pt>
                <c:pt idx="73">
                  <c:v>8</c:v>
                </c:pt>
                <c:pt idx="74">
                  <c:v>10</c:v>
                </c:pt>
                <c:pt idx="75">
                  <c:v>9</c:v>
                </c:pt>
              </c:numCache>
            </c:numRef>
          </c:val>
          <c:extLst>
            <c:ext xmlns:c16="http://schemas.microsoft.com/office/drawing/2014/chart" uri="{C3380CC4-5D6E-409C-BE32-E72D297353CC}">
              <c16:uniqueId val="{00000003-DFB7-4676-B245-8658780E7656}"/>
            </c:ext>
          </c:extLst>
        </c:ser>
        <c:ser>
          <c:idx val="4"/>
          <c:order val="4"/>
          <c:tx>
            <c:strRef>
              <c:f>Question14!$L$29:$L$30</c:f>
              <c:strCache>
                <c:ptCount val="1"/>
                <c:pt idx="0">
                  <c:v>R</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Question14!$G$31:$G$107</c:f>
              <c:strCache>
                <c:ptCount val="76"/>
                <c:pt idx="0">
                  <c:v>Afghanistan</c:v>
                </c:pt>
                <c:pt idx="1">
                  <c:v>Algeria</c:v>
                </c:pt>
                <c:pt idx="2">
                  <c:v>Argentina</c:v>
                </c:pt>
                <c:pt idx="3">
                  <c:v>Armenia</c:v>
                </c:pt>
                <c:pt idx="4">
                  <c:v>Austria</c:v>
                </c:pt>
                <c:pt idx="5">
                  <c:v>Bangladesh</c:v>
                </c:pt>
                <c:pt idx="6">
                  <c:v>Belarus</c:v>
                </c:pt>
                <c:pt idx="7">
                  <c:v>Brazil</c:v>
                </c:pt>
                <c:pt idx="8">
                  <c:v>Brunei</c:v>
                </c:pt>
                <c:pt idx="9">
                  <c:v>Bulgaria</c:v>
                </c:pt>
                <c:pt idx="10">
                  <c:v>Cambodia</c:v>
                </c:pt>
                <c:pt idx="11">
                  <c:v>Canada</c:v>
                </c:pt>
                <c:pt idx="12">
                  <c:v>Chile</c:v>
                </c:pt>
                <c:pt idx="13">
                  <c:v>China</c:v>
                </c:pt>
                <c:pt idx="14">
                  <c:v>Colombia</c:v>
                </c:pt>
                <c:pt idx="15">
                  <c:v>Egypt</c:v>
                </c:pt>
                <c:pt idx="16">
                  <c:v>France</c:v>
                </c:pt>
                <c:pt idx="17">
                  <c:v>French Guiana</c:v>
                </c:pt>
                <c:pt idx="18">
                  <c:v>French Polynesia</c:v>
                </c:pt>
                <c:pt idx="19">
                  <c:v>Germany</c:v>
                </c:pt>
                <c:pt idx="20">
                  <c:v>Greece</c:v>
                </c:pt>
                <c:pt idx="21">
                  <c:v>Greenland</c:v>
                </c:pt>
                <c:pt idx="22">
                  <c:v>Holy See (Vatican City State)</c:v>
                </c:pt>
                <c:pt idx="23">
                  <c:v>India</c:v>
                </c:pt>
                <c:pt idx="24">
                  <c:v>Indonesia</c:v>
                </c:pt>
                <c:pt idx="25">
                  <c:v>Iran</c:v>
                </c:pt>
                <c:pt idx="26">
                  <c:v>Israel</c:v>
                </c:pt>
                <c:pt idx="27">
                  <c:v>Italy</c:v>
                </c:pt>
                <c:pt idx="28">
                  <c:v>Japan</c:v>
                </c:pt>
                <c:pt idx="29">
                  <c:v>Kazakstan</c:v>
                </c:pt>
                <c:pt idx="30">
                  <c:v>Kenya</c:v>
                </c:pt>
                <c:pt idx="31">
                  <c:v>Kuwait</c:v>
                </c:pt>
                <c:pt idx="32">
                  <c:v>Latvia</c:v>
                </c:pt>
                <c:pt idx="33">
                  <c:v>Liechtenstein</c:v>
                </c:pt>
                <c:pt idx="34">
                  <c:v>Madagascar</c:v>
                </c:pt>
                <c:pt idx="35">
                  <c:v>Malawi</c:v>
                </c:pt>
                <c:pt idx="36">
                  <c:v>Malaysia</c:v>
                </c:pt>
                <c:pt idx="37">
                  <c:v>Mexico</c:v>
                </c:pt>
                <c:pt idx="38">
                  <c:v>Moldova</c:v>
                </c:pt>
                <c:pt idx="39">
                  <c:v>Morocco</c:v>
                </c:pt>
                <c:pt idx="40">
                  <c:v>Mozambique</c:v>
                </c:pt>
                <c:pt idx="41">
                  <c:v>Myanmar</c:v>
                </c:pt>
                <c:pt idx="42">
                  <c:v>Netherlands</c:v>
                </c:pt>
                <c:pt idx="43">
                  <c:v>New Zealand</c:v>
                </c:pt>
                <c:pt idx="44">
                  <c:v>Nigeria</c:v>
                </c:pt>
                <c:pt idx="45">
                  <c:v>North Korea</c:v>
                </c:pt>
                <c:pt idx="46">
                  <c:v>Oman</c:v>
                </c:pt>
                <c:pt idx="47">
                  <c:v>Pakistan</c:v>
                </c:pt>
                <c:pt idx="48">
                  <c:v>Paraguay</c:v>
                </c:pt>
                <c:pt idx="49">
                  <c:v>Peru</c:v>
                </c:pt>
                <c:pt idx="50">
                  <c:v>Philippines</c:v>
                </c:pt>
                <c:pt idx="51">
                  <c:v>Poland</c:v>
                </c:pt>
                <c:pt idx="52">
                  <c:v>Réunio</c:v>
                </c:pt>
                <c:pt idx="53">
                  <c:v>Romania</c:v>
                </c:pt>
                <c:pt idx="54">
                  <c:v>Russian Federation</c:v>
                </c:pt>
                <c:pt idx="55">
                  <c:v>Saudi Arabia</c:v>
                </c:pt>
                <c:pt idx="56">
                  <c:v>South Africa</c:v>
                </c:pt>
                <c:pt idx="57">
                  <c:v>South Korea</c:v>
                </c:pt>
                <c:pt idx="58">
                  <c:v>Spain</c:v>
                </c:pt>
                <c:pt idx="59">
                  <c:v>Sudan</c:v>
                </c:pt>
                <c:pt idx="60">
                  <c:v>Sweden</c:v>
                </c:pt>
                <c:pt idx="61">
                  <c:v>Switzerland</c:v>
                </c:pt>
                <c:pt idx="62">
                  <c:v>Taiwan</c:v>
                </c:pt>
                <c:pt idx="63">
                  <c:v>Tanzania</c:v>
                </c:pt>
                <c:pt idx="64">
                  <c:v>Thailand</c:v>
                </c:pt>
                <c:pt idx="65">
                  <c:v>Turkey</c:v>
                </c:pt>
                <c:pt idx="66">
                  <c:v>Turkmenistan</c:v>
                </c:pt>
                <c:pt idx="67">
                  <c:v>Tuvalu</c:v>
                </c:pt>
                <c:pt idx="68">
                  <c:v>Ukraine</c:v>
                </c:pt>
                <c:pt idx="69">
                  <c:v>United Arab Emirates</c:v>
                </c:pt>
                <c:pt idx="70">
                  <c:v>United Kingdom</c:v>
                </c:pt>
                <c:pt idx="71">
                  <c:v>United States</c:v>
                </c:pt>
                <c:pt idx="72">
                  <c:v>Venezuela</c:v>
                </c:pt>
                <c:pt idx="73">
                  <c:v>Vietnam</c:v>
                </c:pt>
                <c:pt idx="74">
                  <c:v>Yemen</c:v>
                </c:pt>
                <c:pt idx="75">
                  <c:v>Yugoslavia</c:v>
                </c:pt>
              </c:strCache>
            </c:strRef>
          </c:cat>
          <c:val>
            <c:numRef>
              <c:f>Question14!$L$31:$L$107</c:f>
              <c:numCache>
                <c:formatCode>General</c:formatCode>
                <c:ptCount val="76"/>
                <c:pt idx="0">
                  <c:v>3</c:v>
                </c:pt>
                <c:pt idx="1">
                  <c:v>7</c:v>
                </c:pt>
                <c:pt idx="2">
                  <c:v>18</c:v>
                </c:pt>
                <c:pt idx="4">
                  <c:v>8</c:v>
                </c:pt>
                <c:pt idx="5">
                  <c:v>4</c:v>
                </c:pt>
                <c:pt idx="6">
                  <c:v>5</c:v>
                </c:pt>
                <c:pt idx="7">
                  <c:v>45</c:v>
                </c:pt>
                <c:pt idx="8">
                  <c:v>3</c:v>
                </c:pt>
                <c:pt idx="9">
                  <c:v>2</c:v>
                </c:pt>
                <c:pt idx="10">
                  <c:v>2</c:v>
                </c:pt>
                <c:pt idx="11">
                  <c:v>4</c:v>
                </c:pt>
                <c:pt idx="12">
                  <c:v>5</c:v>
                </c:pt>
                <c:pt idx="13">
                  <c:v>71</c:v>
                </c:pt>
                <c:pt idx="14">
                  <c:v>13</c:v>
                </c:pt>
                <c:pt idx="15">
                  <c:v>11</c:v>
                </c:pt>
                <c:pt idx="16">
                  <c:v>14</c:v>
                </c:pt>
                <c:pt idx="17">
                  <c:v>5</c:v>
                </c:pt>
                <c:pt idx="18">
                  <c:v>8</c:v>
                </c:pt>
                <c:pt idx="19">
                  <c:v>21</c:v>
                </c:pt>
                <c:pt idx="20">
                  <c:v>9</c:v>
                </c:pt>
                <c:pt idx="21">
                  <c:v>6</c:v>
                </c:pt>
                <c:pt idx="22">
                  <c:v>5</c:v>
                </c:pt>
                <c:pt idx="23">
                  <c:v>104</c:v>
                </c:pt>
                <c:pt idx="24">
                  <c:v>13</c:v>
                </c:pt>
                <c:pt idx="25">
                  <c:v>15</c:v>
                </c:pt>
                <c:pt idx="26">
                  <c:v>11</c:v>
                </c:pt>
                <c:pt idx="27">
                  <c:v>6</c:v>
                </c:pt>
                <c:pt idx="28">
                  <c:v>33</c:v>
                </c:pt>
                <c:pt idx="29">
                  <c:v>4</c:v>
                </c:pt>
                <c:pt idx="30">
                  <c:v>4</c:v>
                </c:pt>
                <c:pt idx="31">
                  <c:v>4</c:v>
                </c:pt>
                <c:pt idx="32">
                  <c:v>4</c:v>
                </c:pt>
                <c:pt idx="33">
                  <c:v>4</c:v>
                </c:pt>
                <c:pt idx="34">
                  <c:v>1</c:v>
                </c:pt>
                <c:pt idx="35">
                  <c:v>3</c:v>
                </c:pt>
                <c:pt idx="36">
                  <c:v>8</c:v>
                </c:pt>
                <c:pt idx="37">
                  <c:v>22</c:v>
                </c:pt>
                <c:pt idx="38">
                  <c:v>8</c:v>
                </c:pt>
                <c:pt idx="39">
                  <c:v>9</c:v>
                </c:pt>
                <c:pt idx="40">
                  <c:v>2</c:v>
                </c:pt>
                <c:pt idx="41">
                  <c:v>2</c:v>
                </c:pt>
                <c:pt idx="42">
                  <c:v>9</c:v>
                </c:pt>
                <c:pt idx="43">
                  <c:v>2</c:v>
                </c:pt>
                <c:pt idx="44">
                  <c:v>23</c:v>
                </c:pt>
                <c:pt idx="45">
                  <c:v>5</c:v>
                </c:pt>
                <c:pt idx="46">
                  <c:v>4</c:v>
                </c:pt>
                <c:pt idx="47">
                  <c:v>8</c:v>
                </c:pt>
                <c:pt idx="48">
                  <c:v>3</c:v>
                </c:pt>
                <c:pt idx="49">
                  <c:v>7</c:v>
                </c:pt>
                <c:pt idx="50">
                  <c:v>25</c:v>
                </c:pt>
                <c:pt idx="51">
                  <c:v>5</c:v>
                </c:pt>
                <c:pt idx="52">
                  <c:v>7</c:v>
                </c:pt>
                <c:pt idx="53">
                  <c:v>3</c:v>
                </c:pt>
                <c:pt idx="54">
                  <c:v>45</c:v>
                </c:pt>
                <c:pt idx="55">
                  <c:v>8</c:v>
                </c:pt>
                <c:pt idx="56">
                  <c:v>29</c:v>
                </c:pt>
                <c:pt idx="57">
                  <c:v>9</c:v>
                </c:pt>
                <c:pt idx="58">
                  <c:v>8</c:v>
                </c:pt>
                <c:pt idx="59">
                  <c:v>4</c:v>
                </c:pt>
                <c:pt idx="60">
                  <c:v>4</c:v>
                </c:pt>
                <c:pt idx="61">
                  <c:v>4</c:v>
                </c:pt>
                <c:pt idx="62">
                  <c:v>28</c:v>
                </c:pt>
                <c:pt idx="63">
                  <c:v>6</c:v>
                </c:pt>
                <c:pt idx="64">
                  <c:v>7</c:v>
                </c:pt>
                <c:pt idx="65">
                  <c:v>22</c:v>
                </c:pt>
                <c:pt idx="66">
                  <c:v>3</c:v>
                </c:pt>
                <c:pt idx="67">
                  <c:v>2</c:v>
                </c:pt>
                <c:pt idx="68">
                  <c:v>10</c:v>
                </c:pt>
                <c:pt idx="69">
                  <c:v>3</c:v>
                </c:pt>
                <c:pt idx="70">
                  <c:v>16</c:v>
                </c:pt>
                <c:pt idx="71">
                  <c:v>60</c:v>
                </c:pt>
                <c:pt idx="72">
                  <c:v>17</c:v>
                </c:pt>
                <c:pt idx="74">
                  <c:v>9</c:v>
                </c:pt>
                <c:pt idx="75">
                  <c:v>5</c:v>
                </c:pt>
              </c:numCache>
            </c:numRef>
          </c:val>
          <c:extLst>
            <c:ext xmlns:c16="http://schemas.microsoft.com/office/drawing/2014/chart" uri="{C3380CC4-5D6E-409C-BE32-E72D297353CC}">
              <c16:uniqueId val="{00000004-DFB7-4676-B245-8658780E7656}"/>
            </c:ext>
          </c:extLst>
        </c:ser>
        <c:dLbls>
          <c:showLegendKey val="0"/>
          <c:showVal val="0"/>
          <c:showCatName val="0"/>
          <c:showSerName val="0"/>
          <c:showPercent val="0"/>
          <c:showBubbleSize val="0"/>
        </c:dLbls>
        <c:gapWidth val="100"/>
        <c:overlap val="100"/>
        <c:axId val="452057312"/>
        <c:axId val="452042912"/>
      </c:barChart>
      <c:catAx>
        <c:axId val="45205731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52042912"/>
        <c:crosses val="autoZero"/>
        <c:auto val="1"/>
        <c:lblAlgn val="ctr"/>
        <c:lblOffset val="100"/>
        <c:noMultiLvlLbl val="0"/>
      </c:catAx>
      <c:valAx>
        <c:axId val="45204291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520573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11.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2F32A34-6AFD-41DA-8CAA-79441812136F}"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81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F32A34-6AFD-41DA-8CAA-79441812136F}"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3370921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F32A34-6AFD-41DA-8CAA-79441812136F}"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275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2F32A34-6AFD-41DA-8CAA-79441812136F}" type="datetimeFigureOut">
              <a:rPr lang="en-IN" smtClean="0"/>
              <a:t>05-04-2026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192051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2F32A34-6AFD-41DA-8CAA-79441812136F}" type="datetimeFigureOut">
              <a:rPr lang="en-IN" smtClean="0"/>
              <a:t>05-04-2026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439460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2F32A34-6AFD-41DA-8CAA-79441812136F}" type="datetimeFigureOut">
              <a:rPr lang="en-IN" smtClean="0"/>
              <a:t>05-04-2026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2853777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F32A34-6AFD-41DA-8CAA-79441812136F}" type="datetimeFigureOut">
              <a:rPr lang="en-IN" smtClean="0"/>
              <a:t>05-04-2026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524447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2F32A34-6AFD-41DA-8CAA-79441812136F}" type="datetimeFigureOut">
              <a:rPr lang="en-IN" smtClean="0"/>
              <a:t>05-04-2026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3449713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2F32A34-6AFD-41DA-8CAA-79441812136F}" type="datetimeFigureOut">
              <a:rPr lang="en-IN" smtClean="0"/>
              <a:t>05-04-2026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3BCB46-BCC0-438A-A4E3-0390E92834C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7967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F32A34-6AFD-41DA-8CAA-79441812136F}"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690387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F32A34-6AFD-41DA-8CAA-79441812136F}"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98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2F32A34-6AFD-41DA-8CAA-79441812136F}" type="datetimeFigureOut">
              <a:rPr lang="en-IN" smtClean="0"/>
              <a:t>05-04-2026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03BCB46-BCC0-438A-A4E3-0390E92834C1}"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9058072"/>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F384C-505F-FFD5-79F1-AD7B6FE068CF}"/>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8DFC44B-476E-97AF-9CE8-7A9BA63D40B1}"/>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4D7E588A-6C0C-DA40-BE66-C7F46B076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85262"/>
          </a:xfrm>
          <a:prstGeom prst="rect">
            <a:avLst/>
          </a:prstGeom>
        </p:spPr>
      </p:pic>
    </p:spTree>
    <p:extLst>
      <p:ext uri="{BB962C8B-B14F-4D97-AF65-F5344CB8AC3E}">
        <p14:creationId xmlns:p14="http://schemas.microsoft.com/office/powerpoint/2010/main" val="254526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52CAD-3D61-1999-7C64-7E9ED0FB4633}"/>
              </a:ext>
            </a:extLst>
          </p:cNvPr>
          <p:cNvSpPr>
            <a:spLocks noGrp="1"/>
          </p:cNvSpPr>
          <p:nvPr>
            <p:ph type="title"/>
          </p:nvPr>
        </p:nvSpPr>
        <p:spPr>
          <a:xfrm>
            <a:off x="677334" y="609600"/>
            <a:ext cx="8596668" cy="823274"/>
          </a:xfrm>
        </p:spPr>
        <p:txBody>
          <a:bodyPr/>
          <a:lstStyle/>
          <a:p>
            <a:r>
              <a:rPr lang="en-IN" dirty="0"/>
              <a:t>Introduction</a:t>
            </a:r>
          </a:p>
        </p:txBody>
      </p:sp>
      <p:sp>
        <p:nvSpPr>
          <p:cNvPr id="3" name="Content Placeholder 2">
            <a:extLst>
              <a:ext uri="{FF2B5EF4-FFF2-40B4-BE49-F238E27FC236}">
                <a16:creationId xmlns:a16="http://schemas.microsoft.com/office/drawing/2014/main" id="{17BF0EA4-7993-56A1-DA6E-9ECF3FE5859E}"/>
              </a:ext>
            </a:extLst>
          </p:cNvPr>
          <p:cNvSpPr>
            <a:spLocks noGrp="1"/>
          </p:cNvSpPr>
          <p:nvPr>
            <p:ph idx="1"/>
          </p:nvPr>
        </p:nvSpPr>
        <p:spPr>
          <a:xfrm>
            <a:off x="677334" y="2158738"/>
            <a:ext cx="8596668" cy="3882624"/>
          </a:xfrm>
        </p:spPr>
        <p:txBody>
          <a:bodyPr/>
          <a:lstStyle/>
          <a:p>
            <a:pPr marL="0" indent="0">
              <a:buNone/>
            </a:pPr>
            <a:r>
              <a:rPr lang="en-IN" dirty="0"/>
              <a:t>The Sakila DVD Rental Store is a sample database that models the operations of a movie rental business. It includes comprehensive data on films, customers, rentals, payments, staff, and store locations. The dataset captures real-world business processes such as inventory management, customer transactions, and rental activities. Overall, it provides a structured environment to explore insights related to sales trends, customer preferences, and operational efficiency</a:t>
            </a:r>
          </a:p>
        </p:txBody>
      </p:sp>
    </p:spTree>
    <p:extLst>
      <p:ext uri="{BB962C8B-B14F-4D97-AF65-F5344CB8AC3E}">
        <p14:creationId xmlns:p14="http://schemas.microsoft.com/office/powerpoint/2010/main" val="1084314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00D1C-EBC7-0FFC-D8AB-3E38BD4B9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752D1-29CE-3C88-0726-0DACA8A17740}"/>
              </a:ext>
            </a:extLst>
          </p:cNvPr>
          <p:cNvSpPr>
            <a:spLocks noGrp="1"/>
          </p:cNvSpPr>
          <p:nvPr>
            <p:ph type="title"/>
          </p:nvPr>
        </p:nvSpPr>
        <p:spPr>
          <a:xfrm>
            <a:off x="677334" y="609600"/>
            <a:ext cx="8596668" cy="823274"/>
          </a:xfrm>
        </p:spPr>
        <p:txBody>
          <a:bodyPr/>
          <a:lstStyle/>
          <a:p>
            <a:r>
              <a:rPr lang="en-IN" dirty="0"/>
              <a:t>Data Cleaning</a:t>
            </a:r>
          </a:p>
        </p:txBody>
      </p:sp>
      <p:sp>
        <p:nvSpPr>
          <p:cNvPr id="3" name="Content Placeholder 2">
            <a:extLst>
              <a:ext uri="{FF2B5EF4-FFF2-40B4-BE49-F238E27FC236}">
                <a16:creationId xmlns:a16="http://schemas.microsoft.com/office/drawing/2014/main" id="{EC41DD92-B903-B974-564A-E384A536BF19}"/>
              </a:ext>
            </a:extLst>
          </p:cNvPr>
          <p:cNvSpPr>
            <a:spLocks noGrp="1"/>
          </p:cNvSpPr>
          <p:nvPr>
            <p:ph idx="1"/>
          </p:nvPr>
        </p:nvSpPr>
        <p:spPr>
          <a:xfrm>
            <a:off x="677334" y="2149311"/>
            <a:ext cx="8596668" cy="3892051"/>
          </a:xfrm>
        </p:spPr>
        <p:txBody>
          <a:bodyPr>
            <a:normAutofit/>
          </a:bodyPr>
          <a:lstStyle/>
          <a:p>
            <a:pPr>
              <a:buFont typeface="Wingdings" panose="05000000000000000000" pitchFamily="2" charset="2"/>
              <a:buChar char="Ø"/>
            </a:pPr>
            <a:r>
              <a:rPr lang="en-IN" dirty="0"/>
              <a:t>Some missing postal codes and phone numbers were identified and handled appropriately.</a:t>
            </a:r>
          </a:p>
          <a:p>
            <a:pPr>
              <a:buFont typeface="Wingdings" panose="05000000000000000000" pitchFamily="2" charset="2"/>
              <a:buChar char="Ø"/>
            </a:pPr>
            <a:r>
              <a:rPr lang="en-IN" dirty="0"/>
              <a:t>Duplicate records were checked and removed to ensure data consistency.</a:t>
            </a:r>
          </a:p>
          <a:p>
            <a:pPr>
              <a:buFont typeface="Wingdings" panose="05000000000000000000" pitchFamily="2" charset="2"/>
              <a:buChar char="Ø"/>
            </a:pPr>
            <a:r>
              <a:rPr lang="en-IN" dirty="0"/>
              <a:t>Data gaps were present but have been addressed during preprocessing.</a:t>
            </a:r>
          </a:p>
          <a:p>
            <a:pPr>
              <a:buFont typeface="Wingdings" panose="05000000000000000000" pitchFamily="2" charset="2"/>
              <a:buChar char="Ø"/>
            </a:pPr>
            <a:r>
              <a:rPr lang="en-IN" dirty="0"/>
              <a:t>All other fields were reviewed and found to be consistent, requiring no further cleaning.</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3964460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857DD-A455-C0E4-75AF-9573D0A6E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46DDC-D2AA-1F93-0103-700EE496306B}"/>
              </a:ext>
            </a:extLst>
          </p:cNvPr>
          <p:cNvSpPr>
            <a:spLocks noGrp="1"/>
          </p:cNvSpPr>
          <p:nvPr>
            <p:ph type="title"/>
          </p:nvPr>
        </p:nvSpPr>
        <p:spPr>
          <a:xfrm>
            <a:off x="677334" y="609600"/>
            <a:ext cx="8596668" cy="823274"/>
          </a:xfrm>
        </p:spPr>
        <p:txBody>
          <a:bodyPr/>
          <a:lstStyle/>
          <a:p>
            <a:r>
              <a:rPr lang="en-IN" dirty="0"/>
              <a:t>ERD(Entity Relationship Diagram)</a:t>
            </a:r>
          </a:p>
        </p:txBody>
      </p:sp>
      <p:sp>
        <p:nvSpPr>
          <p:cNvPr id="4" name="Content Placeholder 3">
            <a:extLst>
              <a:ext uri="{FF2B5EF4-FFF2-40B4-BE49-F238E27FC236}">
                <a16:creationId xmlns:a16="http://schemas.microsoft.com/office/drawing/2014/main" id="{C876A68B-687A-398F-ACA2-743715FBFD77}"/>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BA02C79E-2CE0-1F31-F319-E0AF158BA2EA}"/>
              </a:ext>
            </a:extLst>
          </p:cNvPr>
          <p:cNvPicPr>
            <a:picLocks noChangeAspect="1"/>
          </p:cNvPicPr>
          <p:nvPr/>
        </p:nvPicPr>
        <p:blipFill>
          <a:blip r:embed="rId2"/>
          <a:stretch>
            <a:fillRect/>
          </a:stretch>
        </p:blipFill>
        <p:spPr>
          <a:xfrm>
            <a:off x="0" y="1310924"/>
            <a:ext cx="12192000" cy="5547076"/>
          </a:xfrm>
          <a:prstGeom prst="rect">
            <a:avLst/>
          </a:prstGeom>
        </p:spPr>
      </p:pic>
    </p:spTree>
    <p:extLst>
      <p:ext uri="{BB962C8B-B14F-4D97-AF65-F5344CB8AC3E}">
        <p14:creationId xmlns:p14="http://schemas.microsoft.com/office/powerpoint/2010/main" val="2694286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D73EA-DB3F-F11D-41B7-77AF7A482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570FB-2D10-E762-D901-CCB90576BBF8}"/>
              </a:ext>
            </a:extLst>
          </p:cNvPr>
          <p:cNvSpPr>
            <a:spLocks noGrp="1"/>
          </p:cNvSpPr>
          <p:nvPr>
            <p:ph type="title"/>
          </p:nvPr>
        </p:nvSpPr>
        <p:spPr>
          <a:xfrm>
            <a:off x="677334" y="609600"/>
            <a:ext cx="8596668" cy="823274"/>
          </a:xfrm>
        </p:spPr>
        <p:txBody>
          <a:bodyPr/>
          <a:lstStyle/>
          <a:p>
            <a:r>
              <a:rPr lang="en-IN" dirty="0"/>
              <a:t>Repeat Customers</a:t>
            </a:r>
          </a:p>
        </p:txBody>
      </p:sp>
      <p:sp>
        <p:nvSpPr>
          <p:cNvPr id="6" name="Content Placeholder 5">
            <a:extLst>
              <a:ext uri="{FF2B5EF4-FFF2-40B4-BE49-F238E27FC236}">
                <a16:creationId xmlns:a16="http://schemas.microsoft.com/office/drawing/2014/main" id="{AE83EB07-963C-6242-B56D-27697085FF9F}"/>
              </a:ext>
            </a:extLst>
          </p:cNvPr>
          <p:cNvSpPr>
            <a:spLocks noGrp="1"/>
          </p:cNvSpPr>
          <p:nvPr>
            <p:ph idx="1"/>
          </p:nvPr>
        </p:nvSpPr>
        <p:spPr>
          <a:xfrm>
            <a:off x="677334" y="2160589"/>
            <a:ext cx="4582823" cy="4494735"/>
          </a:xfrm>
        </p:spPr>
        <p:txBody>
          <a:bodyPr>
            <a:normAutofit/>
          </a:bodyPr>
          <a:lstStyle/>
          <a:p>
            <a:pPr marL="0" indent="0">
              <a:buNone/>
            </a:pPr>
            <a:r>
              <a:rPr lang="en-IN" dirty="0"/>
              <a:t>All customers in the dataset are repeat customers, indicating strong customer retention. There is no evidence of new customer acquisition during the period, suggesting limited growth in the customer base. The business relies heavily on existing customers for revenue. While retention is strong, opportunities for expansion appear limited.</a:t>
            </a:r>
          </a:p>
        </p:txBody>
      </p:sp>
      <p:graphicFrame>
        <p:nvGraphicFramePr>
          <p:cNvPr id="8" name="Chart 7">
            <a:extLst>
              <a:ext uri="{FF2B5EF4-FFF2-40B4-BE49-F238E27FC236}">
                <a16:creationId xmlns:a16="http://schemas.microsoft.com/office/drawing/2014/main" id="{324AADF6-5DFC-5603-A422-D0D604D8FD98}"/>
              </a:ext>
            </a:extLst>
          </p:cNvPr>
          <p:cNvGraphicFramePr>
            <a:graphicFrameLocks/>
          </p:cNvGraphicFramePr>
          <p:nvPr>
            <p:extLst>
              <p:ext uri="{D42A27DB-BD31-4B8C-83A1-F6EECF244321}">
                <p14:modId xmlns:p14="http://schemas.microsoft.com/office/powerpoint/2010/main" val="1128996300"/>
              </p:ext>
            </p:extLst>
          </p:nvPr>
        </p:nvGraphicFramePr>
        <p:xfrm>
          <a:off x="6096000" y="2434472"/>
          <a:ext cx="4813485" cy="302364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5613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03118-7395-62BC-B439-F25B652D5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F62C1-9685-31C3-6DB2-CB0E197038E8}"/>
              </a:ext>
            </a:extLst>
          </p:cNvPr>
          <p:cNvSpPr>
            <a:spLocks noGrp="1"/>
          </p:cNvSpPr>
          <p:nvPr>
            <p:ph type="title"/>
          </p:nvPr>
        </p:nvSpPr>
        <p:spPr>
          <a:xfrm>
            <a:off x="677334" y="609600"/>
            <a:ext cx="8596668" cy="823274"/>
          </a:xfrm>
        </p:spPr>
        <p:txBody>
          <a:bodyPr>
            <a:normAutofit fontScale="90000"/>
          </a:bodyPr>
          <a:lstStyle/>
          <a:p>
            <a:r>
              <a:rPr lang="en-IN" dirty="0"/>
              <a:t>Top Rented Movie</a:t>
            </a:r>
            <a:br>
              <a:rPr lang="en-IN" dirty="0"/>
            </a:br>
            <a:br>
              <a:rPr lang="en-IN" dirty="0"/>
            </a:br>
            <a:br>
              <a:rPr lang="en-IN" dirty="0"/>
            </a:br>
            <a:r>
              <a:rPr lang="en-IN" dirty="0"/>
              <a:t>Top Rented Movie</a:t>
            </a:r>
            <a:br>
              <a:rPr lang="en-IN" dirty="0"/>
            </a:br>
            <a:br>
              <a:rPr lang="en-IN" dirty="0"/>
            </a:br>
            <a:br>
              <a:rPr lang="en-IN" dirty="0"/>
            </a:br>
            <a:endParaRPr lang="en-IN" dirty="0"/>
          </a:p>
        </p:txBody>
      </p:sp>
      <p:sp>
        <p:nvSpPr>
          <p:cNvPr id="6" name="Content Placeholder 5">
            <a:extLst>
              <a:ext uri="{FF2B5EF4-FFF2-40B4-BE49-F238E27FC236}">
                <a16:creationId xmlns:a16="http://schemas.microsoft.com/office/drawing/2014/main" id="{C1D06907-FCB4-B52A-71E4-DB82B6310CFF}"/>
              </a:ext>
            </a:extLst>
          </p:cNvPr>
          <p:cNvSpPr>
            <a:spLocks noGrp="1"/>
          </p:cNvSpPr>
          <p:nvPr>
            <p:ph idx="1"/>
          </p:nvPr>
        </p:nvSpPr>
        <p:spPr>
          <a:xfrm>
            <a:off x="521615" y="2160589"/>
            <a:ext cx="4582823" cy="4494735"/>
          </a:xfrm>
        </p:spPr>
        <p:txBody>
          <a:bodyPr>
            <a:normAutofit/>
          </a:bodyPr>
          <a:lstStyle/>
          <a:p>
            <a:pPr marL="0" indent="0">
              <a:buNone/>
            </a:pPr>
            <a:r>
              <a:rPr lang="en-IN" dirty="0"/>
              <a:t>Bucket Brotherhood, Zorro Ark, and Scalawag Duck have the highest rental rates, indicating strong customer demand. These films consistently perform better compared to others in the dataset. Their popularity suggests a higher preference among customers. Focusing on such high-demand titles can help optimize inventory and maximize revenue.</a:t>
            </a:r>
          </a:p>
        </p:txBody>
      </p:sp>
      <p:graphicFrame>
        <p:nvGraphicFramePr>
          <p:cNvPr id="4" name="Chart 3">
            <a:extLst>
              <a:ext uri="{FF2B5EF4-FFF2-40B4-BE49-F238E27FC236}">
                <a16:creationId xmlns:a16="http://schemas.microsoft.com/office/drawing/2014/main" id="{D8A91416-E26C-20DC-B4AD-676F7B569386}"/>
              </a:ext>
            </a:extLst>
          </p:cNvPr>
          <p:cNvGraphicFramePr>
            <a:graphicFrameLocks/>
          </p:cNvGraphicFramePr>
          <p:nvPr>
            <p:extLst>
              <p:ext uri="{D42A27DB-BD31-4B8C-83A1-F6EECF244321}">
                <p14:modId xmlns:p14="http://schemas.microsoft.com/office/powerpoint/2010/main" val="1290979023"/>
              </p:ext>
            </p:extLst>
          </p:nvPr>
        </p:nvGraphicFramePr>
        <p:xfrm>
          <a:off x="5674936" y="2160589"/>
          <a:ext cx="5995449" cy="34577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0654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D09D-E6C3-04E2-D7D8-C2217F7F9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D09A9-68F9-6CCE-533A-C9C06D55F0F9}"/>
              </a:ext>
            </a:extLst>
          </p:cNvPr>
          <p:cNvSpPr>
            <a:spLocks noGrp="1"/>
          </p:cNvSpPr>
          <p:nvPr>
            <p:ph type="title"/>
          </p:nvPr>
        </p:nvSpPr>
        <p:spPr>
          <a:xfrm>
            <a:off x="677334" y="609600"/>
            <a:ext cx="8596668" cy="823274"/>
          </a:xfrm>
        </p:spPr>
        <p:txBody>
          <a:bodyPr/>
          <a:lstStyle/>
          <a:p>
            <a:r>
              <a:rPr lang="en-IN" dirty="0"/>
              <a:t>Staff-customer correlation</a:t>
            </a:r>
          </a:p>
        </p:txBody>
      </p:sp>
      <p:sp>
        <p:nvSpPr>
          <p:cNvPr id="6" name="Content Placeholder 5">
            <a:extLst>
              <a:ext uri="{FF2B5EF4-FFF2-40B4-BE49-F238E27FC236}">
                <a16:creationId xmlns:a16="http://schemas.microsoft.com/office/drawing/2014/main" id="{AF7708CB-0EF9-3743-5216-E23A6D104DBB}"/>
              </a:ext>
            </a:extLst>
          </p:cNvPr>
          <p:cNvSpPr>
            <a:spLocks noGrp="1"/>
          </p:cNvSpPr>
          <p:nvPr>
            <p:ph idx="1"/>
          </p:nvPr>
        </p:nvSpPr>
        <p:spPr>
          <a:xfrm>
            <a:off x="677334" y="2118169"/>
            <a:ext cx="4582823" cy="4494735"/>
          </a:xfrm>
        </p:spPr>
        <p:txBody>
          <a:bodyPr>
            <a:normAutofit/>
          </a:bodyPr>
          <a:lstStyle/>
          <a:p>
            <a:pPr marL="0" indent="0">
              <a:buNone/>
            </a:pPr>
            <a:r>
              <a:rPr lang="en-IN" dirty="0"/>
              <a:t>Staff 2 demonstrates a higher level of customer satisfaction compared to Staff 1 based on the available proxy metrics. Customers served by Staff 2 show better service outcomes, indicating more efficient handling of rentals. This may reflect stronger operational performance and customer interaction. In contrast, Staff 1 shows relatively lower satisfaction levels. Overall, Staff 2 appears to deliver a better customer experience.</a:t>
            </a:r>
          </a:p>
        </p:txBody>
      </p:sp>
      <p:graphicFrame>
        <p:nvGraphicFramePr>
          <p:cNvPr id="4" name="Chart 3">
            <a:extLst>
              <a:ext uri="{FF2B5EF4-FFF2-40B4-BE49-F238E27FC236}">
                <a16:creationId xmlns:a16="http://schemas.microsoft.com/office/drawing/2014/main" id="{EEFC05B7-94C3-00B3-D75A-A41DDC413648}"/>
              </a:ext>
            </a:extLst>
          </p:cNvPr>
          <p:cNvGraphicFramePr>
            <a:graphicFrameLocks/>
          </p:cNvGraphicFramePr>
          <p:nvPr>
            <p:extLst>
              <p:ext uri="{D42A27DB-BD31-4B8C-83A1-F6EECF244321}">
                <p14:modId xmlns:p14="http://schemas.microsoft.com/office/powerpoint/2010/main" val="820614852"/>
              </p:ext>
            </p:extLst>
          </p:nvPr>
        </p:nvGraphicFramePr>
        <p:xfrm>
          <a:off x="5665509" y="2363264"/>
          <a:ext cx="5195741" cy="331167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99106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0D74-37F2-33E5-26BA-181F40A71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65CD7-7845-04D6-3342-DBED5FACBD55}"/>
              </a:ext>
            </a:extLst>
          </p:cNvPr>
          <p:cNvSpPr>
            <a:spLocks noGrp="1"/>
          </p:cNvSpPr>
          <p:nvPr>
            <p:ph type="title"/>
          </p:nvPr>
        </p:nvSpPr>
        <p:spPr>
          <a:xfrm>
            <a:off x="677334" y="609600"/>
            <a:ext cx="8596668" cy="823274"/>
          </a:xfrm>
        </p:spPr>
        <p:txBody>
          <a:bodyPr>
            <a:normAutofit/>
          </a:bodyPr>
          <a:lstStyle/>
          <a:p>
            <a:r>
              <a:rPr lang="en-IN" dirty="0"/>
              <a:t>Seasonal Trends</a:t>
            </a:r>
          </a:p>
        </p:txBody>
      </p:sp>
      <p:sp>
        <p:nvSpPr>
          <p:cNvPr id="6" name="Content Placeholder 5">
            <a:extLst>
              <a:ext uri="{FF2B5EF4-FFF2-40B4-BE49-F238E27FC236}">
                <a16:creationId xmlns:a16="http://schemas.microsoft.com/office/drawing/2014/main" id="{5E0383B7-14F5-0286-78F5-3DB0DCE10EFD}"/>
              </a:ext>
            </a:extLst>
          </p:cNvPr>
          <p:cNvSpPr>
            <a:spLocks noGrp="1"/>
          </p:cNvSpPr>
          <p:nvPr>
            <p:ph idx="1"/>
          </p:nvPr>
        </p:nvSpPr>
        <p:spPr>
          <a:xfrm>
            <a:off x="677334" y="2160589"/>
            <a:ext cx="4582823" cy="4494735"/>
          </a:xfrm>
        </p:spPr>
        <p:txBody>
          <a:bodyPr>
            <a:normAutofit/>
          </a:bodyPr>
          <a:lstStyle/>
          <a:p>
            <a:pPr marL="0" indent="0">
              <a:buNone/>
            </a:pPr>
            <a:r>
              <a:rPr lang="en-IN" dirty="0"/>
              <a:t>India, the US, and China have the highest number of customers compared to other countries, contributing significantly to the overall customer base. Customer concentration is notably higher in these regions, indicating strong market presence and demand. These countries play a key role in driving business performance and represent important areas for strategic focus and growth.</a:t>
            </a:r>
          </a:p>
        </p:txBody>
      </p:sp>
      <p:graphicFrame>
        <p:nvGraphicFramePr>
          <p:cNvPr id="4" name="Chart 3">
            <a:extLst>
              <a:ext uri="{FF2B5EF4-FFF2-40B4-BE49-F238E27FC236}">
                <a16:creationId xmlns:a16="http://schemas.microsoft.com/office/drawing/2014/main" id="{9F6BC8B9-9373-976C-A21E-FC1EA9F14837}"/>
              </a:ext>
            </a:extLst>
          </p:cNvPr>
          <p:cNvGraphicFramePr>
            <a:graphicFrameLocks/>
          </p:cNvGraphicFramePr>
          <p:nvPr>
            <p:extLst>
              <p:ext uri="{D42A27DB-BD31-4B8C-83A1-F6EECF244321}">
                <p14:modId xmlns:p14="http://schemas.microsoft.com/office/powerpoint/2010/main" val="729710045"/>
              </p:ext>
            </p:extLst>
          </p:nvPr>
        </p:nvGraphicFramePr>
        <p:xfrm>
          <a:off x="5571241" y="2337848"/>
          <a:ext cx="5761349" cy="33088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23804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F864-FF4E-3F4D-7EFB-98CDEBAF0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186EC-8969-9E6A-1143-E5F3BA201E10}"/>
              </a:ext>
            </a:extLst>
          </p:cNvPr>
          <p:cNvSpPr>
            <a:spLocks noGrp="1"/>
          </p:cNvSpPr>
          <p:nvPr>
            <p:ph type="title"/>
          </p:nvPr>
        </p:nvSpPr>
        <p:spPr>
          <a:xfrm>
            <a:off x="677334" y="609600"/>
            <a:ext cx="8596668" cy="823274"/>
          </a:xfrm>
        </p:spPr>
        <p:txBody>
          <a:bodyPr>
            <a:normAutofit/>
          </a:bodyPr>
          <a:lstStyle/>
          <a:p>
            <a:r>
              <a:rPr lang="en-IN" dirty="0"/>
              <a:t>Language wise Distribution</a:t>
            </a:r>
          </a:p>
        </p:txBody>
      </p:sp>
      <p:sp>
        <p:nvSpPr>
          <p:cNvPr id="6" name="Content Placeholder 5">
            <a:extLst>
              <a:ext uri="{FF2B5EF4-FFF2-40B4-BE49-F238E27FC236}">
                <a16:creationId xmlns:a16="http://schemas.microsoft.com/office/drawing/2014/main" id="{A0B9EAAC-C3D4-9836-E116-5F9BF8896EC1}"/>
              </a:ext>
            </a:extLst>
          </p:cNvPr>
          <p:cNvSpPr>
            <a:spLocks noGrp="1"/>
          </p:cNvSpPr>
          <p:nvPr>
            <p:ph idx="1"/>
          </p:nvPr>
        </p:nvSpPr>
        <p:spPr>
          <a:xfrm>
            <a:off x="677334" y="2160589"/>
            <a:ext cx="4582823" cy="4494735"/>
          </a:xfrm>
        </p:spPr>
        <p:txBody>
          <a:bodyPr>
            <a:normAutofit/>
          </a:bodyPr>
          <a:lstStyle/>
          <a:p>
            <a:pPr marL="0" indent="0">
              <a:buNone/>
            </a:pPr>
            <a:r>
              <a:rPr lang="en-IN" dirty="0"/>
              <a:t>Medium and high-value customers contribute more to overall rentals, indicating stronger engagement. Low-value customers show comparatively lower rental activity. This suggests that higher-value segments are more active and drive demand. Language-based preference cannot be </a:t>
            </a:r>
            <a:r>
              <a:rPr lang="en-IN" dirty="0" err="1"/>
              <a:t>analyzed</a:t>
            </a:r>
            <a:r>
              <a:rPr lang="en-IN" dirty="0"/>
              <a:t> as all films are in English.</a:t>
            </a:r>
          </a:p>
        </p:txBody>
      </p:sp>
      <p:graphicFrame>
        <p:nvGraphicFramePr>
          <p:cNvPr id="4" name="Chart 3">
            <a:extLst>
              <a:ext uri="{FF2B5EF4-FFF2-40B4-BE49-F238E27FC236}">
                <a16:creationId xmlns:a16="http://schemas.microsoft.com/office/drawing/2014/main" id="{A9C39A60-2428-EB69-792B-55BE4DF33D17}"/>
              </a:ext>
            </a:extLst>
          </p:cNvPr>
          <p:cNvGraphicFramePr>
            <a:graphicFrameLocks/>
          </p:cNvGraphicFramePr>
          <p:nvPr>
            <p:extLst>
              <p:ext uri="{D42A27DB-BD31-4B8C-83A1-F6EECF244321}">
                <p14:modId xmlns:p14="http://schemas.microsoft.com/office/powerpoint/2010/main" val="877891236"/>
              </p:ext>
            </p:extLst>
          </p:nvPr>
        </p:nvGraphicFramePr>
        <p:xfrm>
          <a:off x="5637229" y="2330777"/>
          <a:ext cx="5572812" cy="31650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99644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67102-56E7-3EB6-80FD-A7BABF375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23A0B-7ADC-ADEB-2CD9-2C692696EA3C}"/>
              </a:ext>
            </a:extLst>
          </p:cNvPr>
          <p:cNvSpPr>
            <a:spLocks noGrp="1"/>
          </p:cNvSpPr>
          <p:nvPr>
            <p:ph type="title"/>
          </p:nvPr>
        </p:nvSpPr>
        <p:spPr>
          <a:xfrm>
            <a:off x="677334" y="609600"/>
            <a:ext cx="8596668" cy="823274"/>
          </a:xfrm>
        </p:spPr>
        <p:txBody>
          <a:bodyPr/>
          <a:lstStyle/>
          <a:p>
            <a:r>
              <a:rPr lang="en-IN" dirty="0"/>
              <a:t>Overall Sales revenue</a:t>
            </a:r>
          </a:p>
        </p:txBody>
      </p:sp>
      <p:sp>
        <p:nvSpPr>
          <p:cNvPr id="6" name="Content Placeholder 5">
            <a:extLst>
              <a:ext uri="{FF2B5EF4-FFF2-40B4-BE49-F238E27FC236}">
                <a16:creationId xmlns:a16="http://schemas.microsoft.com/office/drawing/2014/main" id="{33CE1672-2DAF-664D-D924-7C5D8C815451}"/>
              </a:ext>
            </a:extLst>
          </p:cNvPr>
          <p:cNvSpPr>
            <a:spLocks noGrp="1"/>
          </p:cNvSpPr>
          <p:nvPr>
            <p:ph idx="1"/>
          </p:nvPr>
        </p:nvSpPr>
        <p:spPr>
          <a:xfrm>
            <a:off x="677334" y="2499954"/>
            <a:ext cx="4582823" cy="4494735"/>
          </a:xfrm>
        </p:spPr>
        <p:txBody>
          <a:bodyPr/>
          <a:lstStyle/>
          <a:p>
            <a:pPr marL="0" indent="0">
              <a:buNone/>
            </a:pPr>
            <a:r>
              <a:rPr lang="en-IN" dirty="0"/>
              <a:t>There is a steady growth in both rental volume and revenue over time, indicating strong customer loyalty. Repeat customers continue to contribute consistently to sales, driving overall business growth.</a:t>
            </a:r>
          </a:p>
        </p:txBody>
      </p:sp>
      <p:graphicFrame>
        <p:nvGraphicFramePr>
          <p:cNvPr id="5" name="Chart 4">
            <a:extLst>
              <a:ext uri="{FF2B5EF4-FFF2-40B4-BE49-F238E27FC236}">
                <a16:creationId xmlns:a16="http://schemas.microsoft.com/office/drawing/2014/main" id="{DAFE5FA0-C104-CFF1-FA53-948B892C0AC8}"/>
              </a:ext>
            </a:extLst>
          </p:cNvPr>
          <p:cNvGraphicFramePr>
            <a:graphicFrameLocks/>
          </p:cNvGraphicFramePr>
          <p:nvPr>
            <p:extLst>
              <p:ext uri="{D42A27DB-BD31-4B8C-83A1-F6EECF244321}">
                <p14:modId xmlns:p14="http://schemas.microsoft.com/office/powerpoint/2010/main" val="2096434043"/>
              </p:ext>
            </p:extLst>
          </p:nvPr>
        </p:nvGraphicFramePr>
        <p:xfrm>
          <a:off x="5693790" y="2368484"/>
          <a:ext cx="5478544" cy="31650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3633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82547-D934-B66A-D489-E2AE58643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E69D1-AE1C-9CC4-9AFC-3839029FE032}"/>
              </a:ext>
            </a:extLst>
          </p:cNvPr>
          <p:cNvSpPr>
            <a:spLocks noGrp="1"/>
          </p:cNvSpPr>
          <p:nvPr>
            <p:ph type="title"/>
          </p:nvPr>
        </p:nvSpPr>
        <p:spPr>
          <a:xfrm>
            <a:off x="677334" y="609600"/>
            <a:ext cx="8596668" cy="823274"/>
          </a:xfrm>
        </p:spPr>
        <p:txBody>
          <a:bodyPr>
            <a:normAutofit/>
          </a:bodyPr>
          <a:lstStyle/>
          <a:p>
            <a:r>
              <a:rPr lang="en-IN" dirty="0"/>
              <a:t>Staff performance </a:t>
            </a:r>
          </a:p>
        </p:txBody>
      </p:sp>
      <p:sp>
        <p:nvSpPr>
          <p:cNvPr id="6" name="Content Placeholder 5">
            <a:extLst>
              <a:ext uri="{FF2B5EF4-FFF2-40B4-BE49-F238E27FC236}">
                <a16:creationId xmlns:a16="http://schemas.microsoft.com/office/drawing/2014/main" id="{D0190BE9-E09A-9CD3-8AF0-3C63AEA35FCE}"/>
              </a:ext>
            </a:extLst>
          </p:cNvPr>
          <p:cNvSpPr>
            <a:spLocks noGrp="1"/>
          </p:cNvSpPr>
          <p:nvPr>
            <p:ph idx="1"/>
          </p:nvPr>
        </p:nvSpPr>
        <p:spPr>
          <a:xfrm>
            <a:off x="677334" y="2160589"/>
            <a:ext cx="4582823" cy="4494735"/>
          </a:xfrm>
        </p:spPr>
        <p:txBody>
          <a:bodyPr/>
          <a:lstStyle/>
          <a:p>
            <a:pPr marL="0" indent="0">
              <a:buNone/>
            </a:pPr>
            <a:r>
              <a:rPr lang="en-IN" dirty="0"/>
              <a:t>Staff 2 demonstrates higher customer satisfaction compared to Staff 1, indicating better service efficiency. This suggests more effective handling of customer interactions and rental processes. Staff 1 may have comparatively lower performance in delivering consistent service quality. Improving efficiency could help enhance overall customer experience.</a:t>
            </a:r>
          </a:p>
        </p:txBody>
      </p:sp>
      <p:graphicFrame>
        <p:nvGraphicFramePr>
          <p:cNvPr id="4" name="Chart 3">
            <a:extLst>
              <a:ext uri="{FF2B5EF4-FFF2-40B4-BE49-F238E27FC236}">
                <a16:creationId xmlns:a16="http://schemas.microsoft.com/office/drawing/2014/main" id="{BB02D869-30D9-E427-9ED9-54B594BA5A51}"/>
              </a:ext>
            </a:extLst>
          </p:cNvPr>
          <p:cNvGraphicFramePr>
            <a:graphicFrameLocks/>
          </p:cNvGraphicFramePr>
          <p:nvPr>
            <p:extLst>
              <p:ext uri="{D42A27DB-BD31-4B8C-83A1-F6EECF244321}">
                <p14:modId xmlns:p14="http://schemas.microsoft.com/office/powerpoint/2010/main" val="1153345112"/>
              </p:ext>
            </p:extLst>
          </p:nvPr>
        </p:nvGraphicFramePr>
        <p:xfrm>
          <a:off x="5420412" y="2160588"/>
          <a:ext cx="5959312" cy="35426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73617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52BCD-4FB0-389B-B385-B5CE79398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7D9CA-EB0B-F32F-4DE1-7E86087064F3}"/>
              </a:ext>
            </a:extLst>
          </p:cNvPr>
          <p:cNvSpPr>
            <a:spLocks noGrp="1"/>
          </p:cNvSpPr>
          <p:nvPr>
            <p:ph type="title"/>
          </p:nvPr>
        </p:nvSpPr>
        <p:spPr>
          <a:xfrm>
            <a:off x="677334" y="609600"/>
            <a:ext cx="8596668" cy="823274"/>
          </a:xfrm>
        </p:spPr>
        <p:txBody>
          <a:bodyPr/>
          <a:lstStyle/>
          <a:p>
            <a:r>
              <a:rPr lang="en-IN" dirty="0"/>
              <a:t>High spend customer analysis</a:t>
            </a:r>
          </a:p>
        </p:txBody>
      </p:sp>
      <p:sp>
        <p:nvSpPr>
          <p:cNvPr id="6" name="Content Placeholder 5">
            <a:extLst>
              <a:ext uri="{FF2B5EF4-FFF2-40B4-BE49-F238E27FC236}">
                <a16:creationId xmlns:a16="http://schemas.microsoft.com/office/drawing/2014/main" id="{34F2113A-BE9C-8DA5-6DFA-9BF98CFC3A06}"/>
              </a:ext>
            </a:extLst>
          </p:cNvPr>
          <p:cNvSpPr>
            <a:spLocks noGrp="1"/>
          </p:cNvSpPr>
          <p:nvPr>
            <p:ph idx="1"/>
          </p:nvPr>
        </p:nvSpPr>
        <p:spPr>
          <a:xfrm>
            <a:off x="677334" y="2160589"/>
            <a:ext cx="4582823" cy="4494735"/>
          </a:xfrm>
        </p:spPr>
        <p:txBody>
          <a:bodyPr>
            <a:normAutofit/>
          </a:bodyPr>
          <a:lstStyle/>
          <a:p>
            <a:pPr marL="0" indent="0">
              <a:buNone/>
            </a:pPr>
            <a:r>
              <a:rPr lang="en-IN" dirty="0"/>
              <a:t>High-spending customers show a strong preference for specific film categories. Their rental </a:t>
            </a:r>
            <a:r>
              <a:rPr lang="en-IN" dirty="0" err="1"/>
              <a:t>behavior</a:t>
            </a:r>
            <a:r>
              <a:rPr lang="en-IN" dirty="0"/>
              <a:t> indicates a higher inclination toward certain genres compared to others. This highlights targeted viewing patterns among premium customers. Focusing on these categories can help improve recommendations and drive revenue growth.</a:t>
            </a:r>
          </a:p>
        </p:txBody>
      </p:sp>
      <p:graphicFrame>
        <p:nvGraphicFramePr>
          <p:cNvPr id="4" name="Chart 3">
            <a:extLst>
              <a:ext uri="{FF2B5EF4-FFF2-40B4-BE49-F238E27FC236}">
                <a16:creationId xmlns:a16="http://schemas.microsoft.com/office/drawing/2014/main" id="{C1649C8A-3F38-E2B3-A235-2CEEEBF9907F}"/>
              </a:ext>
            </a:extLst>
          </p:cNvPr>
          <p:cNvGraphicFramePr>
            <a:graphicFrameLocks/>
          </p:cNvGraphicFramePr>
          <p:nvPr>
            <p:extLst>
              <p:ext uri="{D42A27DB-BD31-4B8C-83A1-F6EECF244321}">
                <p14:modId xmlns:p14="http://schemas.microsoft.com/office/powerpoint/2010/main" val="3382832614"/>
              </p:ext>
            </p:extLst>
          </p:nvPr>
        </p:nvGraphicFramePr>
        <p:xfrm>
          <a:off x="5401560" y="2160589"/>
          <a:ext cx="6113106" cy="36180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15650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854E8-0F64-5BEA-6782-1EC840F70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6999D-7F2A-F3A6-1E8D-F41A7D82A6FA}"/>
              </a:ext>
            </a:extLst>
          </p:cNvPr>
          <p:cNvSpPr>
            <a:spLocks noGrp="1"/>
          </p:cNvSpPr>
          <p:nvPr>
            <p:ph type="title"/>
          </p:nvPr>
        </p:nvSpPr>
        <p:spPr>
          <a:xfrm>
            <a:off x="677334" y="609600"/>
            <a:ext cx="8596668" cy="823274"/>
          </a:xfrm>
        </p:spPr>
        <p:txBody>
          <a:bodyPr/>
          <a:lstStyle/>
          <a:p>
            <a:r>
              <a:rPr lang="en-IN" dirty="0"/>
              <a:t>Inventory Level</a:t>
            </a:r>
          </a:p>
        </p:txBody>
      </p:sp>
      <p:sp>
        <p:nvSpPr>
          <p:cNvPr id="6" name="Content Placeholder 5">
            <a:extLst>
              <a:ext uri="{FF2B5EF4-FFF2-40B4-BE49-F238E27FC236}">
                <a16:creationId xmlns:a16="http://schemas.microsoft.com/office/drawing/2014/main" id="{2623D473-E1A0-03E8-EC35-7871B455F0E8}"/>
              </a:ext>
            </a:extLst>
          </p:cNvPr>
          <p:cNvSpPr>
            <a:spLocks noGrp="1"/>
          </p:cNvSpPr>
          <p:nvPr>
            <p:ph idx="1"/>
          </p:nvPr>
        </p:nvSpPr>
        <p:spPr>
          <a:xfrm>
            <a:off x="677334" y="2160589"/>
            <a:ext cx="4582823" cy="4494735"/>
          </a:xfrm>
        </p:spPr>
        <p:txBody>
          <a:bodyPr>
            <a:normAutofit/>
          </a:bodyPr>
          <a:lstStyle/>
          <a:p>
            <a:pPr marL="0" indent="0">
              <a:buNone/>
            </a:pPr>
            <a:r>
              <a:rPr lang="en-IN" dirty="0"/>
              <a:t>High and medium availability of films support better customer satisfaction and higher rental frequency. Customers are more likely to rent and return when inventory is sufficiently available. In contrast, low availability leads to reduced repeat rentals and lower customer engagement. This highlights the importance of maintaining optimal inventory levels.</a:t>
            </a:r>
          </a:p>
        </p:txBody>
      </p:sp>
      <p:graphicFrame>
        <p:nvGraphicFramePr>
          <p:cNvPr id="3" name="Chart 2">
            <a:extLst>
              <a:ext uri="{FF2B5EF4-FFF2-40B4-BE49-F238E27FC236}">
                <a16:creationId xmlns:a16="http://schemas.microsoft.com/office/drawing/2014/main" id="{CC3839AA-1518-EF34-A447-7C26CCBD3A95}"/>
              </a:ext>
            </a:extLst>
          </p:cNvPr>
          <p:cNvGraphicFramePr>
            <a:graphicFrameLocks/>
          </p:cNvGraphicFramePr>
          <p:nvPr>
            <p:extLst>
              <p:ext uri="{D42A27DB-BD31-4B8C-83A1-F6EECF244321}">
                <p14:modId xmlns:p14="http://schemas.microsoft.com/office/powerpoint/2010/main" val="1583300447"/>
              </p:ext>
            </p:extLst>
          </p:nvPr>
        </p:nvGraphicFramePr>
        <p:xfrm>
          <a:off x="5354426" y="2160589"/>
          <a:ext cx="5882326" cy="338237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9182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1AE9E-2E03-D52A-5F07-643FA26BA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100F3-24DA-9876-EB3E-3D5B83475F9B}"/>
              </a:ext>
            </a:extLst>
          </p:cNvPr>
          <p:cNvSpPr>
            <a:spLocks noGrp="1"/>
          </p:cNvSpPr>
          <p:nvPr>
            <p:ph type="title"/>
          </p:nvPr>
        </p:nvSpPr>
        <p:spPr>
          <a:xfrm>
            <a:off x="677334" y="609600"/>
            <a:ext cx="8596668" cy="823274"/>
          </a:xfrm>
        </p:spPr>
        <p:txBody>
          <a:bodyPr/>
          <a:lstStyle/>
          <a:p>
            <a:r>
              <a:rPr lang="en-IN" dirty="0"/>
              <a:t>Peak hours of Store</a:t>
            </a:r>
          </a:p>
        </p:txBody>
      </p:sp>
      <p:sp>
        <p:nvSpPr>
          <p:cNvPr id="6" name="Content Placeholder 5">
            <a:extLst>
              <a:ext uri="{FF2B5EF4-FFF2-40B4-BE49-F238E27FC236}">
                <a16:creationId xmlns:a16="http://schemas.microsoft.com/office/drawing/2014/main" id="{72950629-052E-93BF-6FA7-F90D0EEEC4CD}"/>
              </a:ext>
            </a:extLst>
          </p:cNvPr>
          <p:cNvSpPr>
            <a:spLocks noGrp="1"/>
          </p:cNvSpPr>
          <p:nvPr>
            <p:ph idx="1"/>
          </p:nvPr>
        </p:nvSpPr>
        <p:spPr>
          <a:xfrm>
            <a:off x="677334" y="2160589"/>
            <a:ext cx="4582823" cy="4494735"/>
          </a:xfrm>
        </p:spPr>
        <p:txBody>
          <a:bodyPr>
            <a:normAutofit/>
          </a:bodyPr>
          <a:lstStyle/>
          <a:p>
            <a:pPr marL="0" indent="0">
              <a:buNone/>
            </a:pPr>
            <a:r>
              <a:rPr lang="en-IN" dirty="0"/>
              <a:t>Peak hours at each store indicate periods of highest customer activity. During these times, increased staffing is required to handle demand efficiently. Proper staffing ensures faster service and better customer experience. Optimizing staff allocation during peak hours can improve overall operational efficiency.</a:t>
            </a:r>
          </a:p>
        </p:txBody>
      </p:sp>
      <p:graphicFrame>
        <p:nvGraphicFramePr>
          <p:cNvPr id="3" name="Chart 2">
            <a:extLst>
              <a:ext uri="{FF2B5EF4-FFF2-40B4-BE49-F238E27FC236}">
                <a16:creationId xmlns:a16="http://schemas.microsoft.com/office/drawing/2014/main" id="{AEC5EFBE-D170-1E80-BD0C-92929D8B1470}"/>
              </a:ext>
            </a:extLst>
          </p:cNvPr>
          <p:cNvGraphicFramePr>
            <a:graphicFrameLocks/>
          </p:cNvGraphicFramePr>
          <p:nvPr>
            <p:extLst>
              <p:ext uri="{D42A27DB-BD31-4B8C-83A1-F6EECF244321}">
                <p14:modId xmlns:p14="http://schemas.microsoft.com/office/powerpoint/2010/main" val="564775543"/>
              </p:ext>
            </p:extLst>
          </p:nvPr>
        </p:nvGraphicFramePr>
        <p:xfrm>
          <a:off x="5260157" y="2160589"/>
          <a:ext cx="5949885" cy="30995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78088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02064-56B8-C1E9-F73A-B6DBAC524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AF7D1-F923-9D47-D1FB-B919A1AD299D}"/>
              </a:ext>
            </a:extLst>
          </p:cNvPr>
          <p:cNvSpPr>
            <a:spLocks noGrp="1"/>
          </p:cNvSpPr>
          <p:nvPr>
            <p:ph type="title"/>
          </p:nvPr>
        </p:nvSpPr>
        <p:spPr>
          <a:xfrm>
            <a:off x="677334" y="609600"/>
            <a:ext cx="8596668" cy="823274"/>
          </a:xfrm>
        </p:spPr>
        <p:txBody>
          <a:bodyPr/>
          <a:lstStyle/>
          <a:p>
            <a:r>
              <a:rPr lang="en-IN" dirty="0"/>
              <a:t>Language Distribution</a:t>
            </a:r>
          </a:p>
        </p:txBody>
      </p:sp>
      <p:sp>
        <p:nvSpPr>
          <p:cNvPr id="6" name="Content Placeholder 5">
            <a:extLst>
              <a:ext uri="{FF2B5EF4-FFF2-40B4-BE49-F238E27FC236}">
                <a16:creationId xmlns:a16="http://schemas.microsoft.com/office/drawing/2014/main" id="{9E4C151B-ACFF-315A-347F-14A643CFCBE8}"/>
              </a:ext>
            </a:extLst>
          </p:cNvPr>
          <p:cNvSpPr>
            <a:spLocks noGrp="1"/>
          </p:cNvSpPr>
          <p:nvPr>
            <p:ph idx="1"/>
          </p:nvPr>
        </p:nvSpPr>
        <p:spPr>
          <a:xfrm>
            <a:off x="677334" y="2160589"/>
            <a:ext cx="4582823" cy="4494735"/>
          </a:xfrm>
        </p:spPr>
        <p:txBody>
          <a:bodyPr>
            <a:normAutofit/>
          </a:bodyPr>
          <a:lstStyle/>
          <a:p>
            <a:pPr marL="0" indent="0">
              <a:buNone/>
            </a:pPr>
            <a:r>
              <a:rPr lang="en-IN" dirty="0"/>
              <a:t>The dataset contains films only in the English language, with no presence of other languages. This indicates a lack of diversity in language distribution. As a result, language-based preference analysis cannot be performed. All customer interactions are limited to English-language content.</a:t>
            </a:r>
          </a:p>
        </p:txBody>
      </p:sp>
      <p:graphicFrame>
        <p:nvGraphicFramePr>
          <p:cNvPr id="3" name="Chart 2">
            <a:extLst>
              <a:ext uri="{FF2B5EF4-FFF2-40B4-BE49-F238E27FC236}">
                <a16:creationId xmlns:a16="http://schemas.microsoft.com/office/drawing/2014/main" id="{DCB541D3-715C-1C88-A1AE-40674B193A57}"/>
              </a:ext>
            </a:extLst>
          </p:cNvPr>
          <p:cNvGraphicFramePr>
            <a:graphicFrameLocks/>
          </p:cNvGraphicFramePr>
          <p:nvPr>
            <p:extLst>
              <p:ext uri="{D42A27DB-BD31-4B8C-83A1-F6EECF244321}">
                <p14:modId xmlns:p14="http://schemas.microsoft.com/office/powerpoint/2010/main" val="3579960158"/>
              </p:ext>
            </p:extLst>
          </p:nvPr>
        </p:nvGraphicFramePr>
        <p:xfrm>
          <a:off x="5646656" y="2425045"/>
          <a:ext cx="5421983" cy="247689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55324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413CC-4D5F-3806-6EDE-2C645CEDC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E6698-A004-378A-E868-1CB71B311AB9}"/>
              </a:ext>
            </a:extLst>
          </p:cNvPr>
          <p:cNvSpPr>
            <a:spLocks noGrp="1"/>
          </p:cNvSpPr>
          <p:nvPr>
            <p:ph type="title"/>
          </p:nvPr>
        </p:nvSpPr>
        <p:spPr>
          <a:xfrm>
            <a:off x="677334" y="609600"/>
            <a:ext cx="8596668" cy="823274"/>
          </a:xfrm>
        </p:spPr>
        <p:txBody>
          <a:bodyPr/>
          <a:lstStyle/>
          <a:p>
            <a:r>
              <a:rPr lang="en-IN" dirty="0"/>
              <a:t>Customer Preference</a:t>
            </a:r>
          </a:p>
        </p:txBody>
      </p:sp>
      <p:sp>
        <p:nvSpPr>
          <p:cNvPr id="6" name="Content Placeholder 5">
            <a:extLst>
              <a:ext uri="{FF2B5EF4-FFF2-40B4-BE49-F238E27FC236}">
                <a16:creationId xmlns:a16="http://schemas.microsoft.com/office/drawing/2014/main" id="{21136798-9152-5094-F2D0-42EA819FCC20}"/>
              </a:ext>
            </a:extLst>
          </p:cNvPr>
          <p:cNvSpPr>
            <a:spLocks noGrp="1"/>
          </p:cNvSpPr>
          <p:nvPr>
            <p:ph idx="1"/>
          </p:nvPr>
        </p:nvSpPr>
        <p:spPr>
          <a:xfrm>
            <a:off x="677334" y="2160590"/>
            <a:ext cx="3319631" cy="4447600"/>
          </a:xfrm>
        </p:spPr>
        <p:txBody>
          <a:bodyPr>
            <a:normAutofit/>
          </a:bodyPr>
          <a:lstStyle/>
          <a:p>
            <a:pPr marL="0" indent="0">
              <a:buNone/>
            </a:pPr>
            <a:r>
              <a:rPr lang="en-IN" dirty="0"/>
              <a:t>Customer preferences vary across locations, reflected in differences in film categories and ratings. Certain regions show higher demand for specific genres and content types. This indicates the influence of local tastes on viewing behaviour. </a:t>
            </a:r>
          </a:p>
        </p:txBody>
      </p:sp>
      <p:graphicFrame>
        <p:nvGraphicFramePr>
          <p:cNvPr id="4" name="Chart 3">
            <a:extLst>
              <a:ext uri="{FF2B5EF4-FFF2-40B4-BE49-F238E27FC236}">
                <a16:creationId xmlns:a16="http://schemas.microsoft.com/office/drawing/2014/main" id="{479604E7-BB40-54F5-C773-EC22B5FDEC94}"/>
              </a:ext>
            </a:extLst>
          </p:cNvPr>
          <p:cNvGraphicFramePr>
            <a:graphicFrameLocks/>
          </p:cNvGraphicFramePr>
          <p:nvPr>
            <p:extLst>
              <p:ext uri="{D42A27DB-BD31-4B8C-83A1-F6EECF244321}">
                <p14:modId xmlns:p14="http://schemas.microsoft.com/office/powerpoint/2010/main" val="4257617856"/>
              </p:ext>
            </p:extLst>
          </p:nvPr>
        </p:nvGraphicFramePr>
        <p:xfrm>
          <a:off x="4166646" y="2262433"/>
          <a:ext cx="7472903" cy="35078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49087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D4A9-139E-57F0-00FA-FF45A4126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ECFED-C1C8-E541-E44F-29B78078715E}"/>
              </a:ext>
            </a:extLst>
          </p:cNvPr>
          <p:cNvSpPr>
            <a:spLocks noGrp="1"/>
          </p:cNvSpPr>
          <p:nvPr>
            <p:ph type="title"/>
          </p:nvPr>
        </p:nvSpPr>
        <p:spPr>
          <a:xfrm>
            <a:off x="677334" y="609600"/>
            <a:ext cx="8596668" cy="823274"/>
          </a:xfrm>
        </p:spPr>
        <p:txBody>
          <a:bodyPr/>
          <a:lstStyle/>
          <a:p>
            <a:r>
              <a:rPr lang="en-IN" dirty="0"/>
              <a:t>Sales Revenue by Month</a:t>
            </a:r>
          </a:p>
        </p:txBody>
      </p:sp>
      <p:sp>
        <p:nvSpPr>
          <p:cNvPr id="6" name="Content Placeholder 5">
            <a:extLst>
              <a:ext uri="{FF2B5EF4-FFF2-40B4-BE49-F238E27FC236}">
                <a16:creationId xmlns:a16="http://schemas.microsoft.com/office/drawing/2014/main" id="{5B8BD8A9-9B1E-67B5-47CC-58A765D626E1}"/>
              </a:ext>
            </a:extLst>
          </p:cNvPr>
          <p:cNvSpPr>
            <a:spLocks noGrp="1"/>
          </p:cNvSpPr>
          <p:nvPr>
            <p:ph idx="1"/>
          </p:nvPr>
        </p:nvSpPr>
        <p:spPr>
          <a:xfrm>
            <a:off x="1536569" y="4798243"/>
            <a:ext cx="7975076" cy="1913642"/>
          </a:xfrm>
        </p:spPr>
        <p:txBody>
          <a:bodyPr>
            <a:normAutofit/>
          </a:bodyPr>
          <a:lstStyle/>
          <a:p>
            <a:pPr marL="0" indent="0">
              <a:buNone/>
            </a:pPr>
            <a:r>
              <a:rPr lang="en-IN" dirty="0"/>
              <a:t>Rental activity shows a sharp spike in July 2005, indicating a surge in demand during that period. Following this peak, there is a gradual decline in rentals until February 2006. This trend suggests a temporary increase followed by a steady decrease in customer activity.</a:t>
            </a:r>
          </a:p>
        </p:txBody>
      </p:sp>
      <p:pic>
        <p:nvPicPr>
          <p:cNvPr id="4" name="Picture 3">
            <a:extLst>
              <a:ext uri="{FF2B5EF4-FFF2-40B4-BE49-F238E27FC236}">
                <a16:creationId xmlns:a16="http://schemas.microsoft.com/office/drawing/2014/main" id="{248E5CE2-0998-6A8B-7BBA-91ED3D665749}"/>
              </a:ext>
            </a:extLst>
          </p:cNvPr>
          <p:cNvPicPr>
            <a:picLocks noChangeAspect="1"/>
          </p:cNvPicPr>
          <p:nvPr/>
        </p:nvPicPr>
        <p:blipFill>
          <a:blip r:embed="rId2"/>
          <a:stretch>
            <a:fillRect/>
          </a:stretch>
        </p:blipFill>
        <p:spPr>
          <a:xfrm>
            <a:off x="1743959" y="1915241"/>
            <a:ext cx="7063329" cy="2400635"/>
          </a:xfrm>
          <a:prstGeom prst="rect">
            <a:avLst/>
          </a:prstGeom>
        </p:spPr>
      </p:pic>
    </p:spTree>
    <p:extLst>
      <p:ext uri="{BB962C8B-B14F-4D97-AF65-F5344CB8AC3E}">
        <p14:creationId xmlns:p14="http://schemas.microsoft.com/office/powerpoint/2010/main" val="1363690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E5D1C-990E-3A81-DC10-4CA6A26B7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2844E-E971-659A-439A-511C93AD8477}"/>
              </a:ext>
            </a:extLst>
          </p:cNvPr>
          <p:cNvSpPr>
            <a:spLocks noGrp="1"/>
          </p:cNvSpPr>
          <p:nvPr>
            <p:ph type="title"/>
          </p:nvPr>
        </p:nvSpPr>
        <p:spPr>
          <a:xfrm>
            <a:off x="677334" y="609600"/>
            <a:ext cx="8596668" cy="823274"/>
          </a:xfrm>
        </p:spPr>
        <p:txBody>
          <a:bodyPr/>
          <a:lstStyle/>
          <a:p>
            <a:r>
              <a:rPr lang="en-IN" dirty="0"/>
              <a:t>Average Rental Duration by Staff</a:t>
            </a:r>
          </a:p>
        </p:txBody>
      </p:sp>
      <p:sp>
        <p:nvSpPr>
          <p:cNvPr id="6" name="Content Placeholder 5">
            <a:extLst>
              <a:ext uri="{FF2B5EF4-FFF2-40B4-BE49-F238E27FC236}">
                <a16:creationId xmlns:a16="http://schemas.microsoft.com/office/drawing/2014/main" id="{09D67B04-3C48-061B-5B73-F495B1E89ED3}"/>
              </a:ext>
            </a:extLst>
          </p:cNvPr>
          <p:cNvSpPr>
            <a:spLocks noGrp="1"/>
          </p:cNvSpPr>
          <p:nvPr>
            <p:ph idx="1"/>
          </p:nvPr>
        </p:nvSpPr>
        <p:spPr>
          <a:xfrm>
            <a:off x="1621410" y="4694548"/>
            <a:ext cx="8596668" cy="2045617"/>
          </a:xfrm>
        </p:spPr>
        <p:txBody>
          <a:bodyPr>
            <a:normAutofit/>
          </a:bodyPr>
          <a:lstStyle/>
          <a:p>
            <a:pPr marL="0" indent="0">
              <a:buNone/>
            </a:pPr>
            <a:r>
              <a:rPr lang="en-IN" dirty="0"/>
              <a:t>Both staff members exhibit a similar average rental duration, indicating consistent handling of rental processes. This suggests uniformity in service efficiency across staff. There is no significant variation in how rentals are managed between them. Overall, performance remains balanced in terms of rental duration.</a:t>
            </a:r>
          </a:p>
        </p:txBody>
      </p:sp>
      <p:pic>
        <p:nvPicPr>
          <p:cNvPr id="4" name="Picture 3">
            <a:extLst>
              <a:ext uri="{FF2B5EF4-FFF2-40B4-BE49-F238E27FC236}">
                <a16:creationId xmlns:a16="http://schemas.microsoft.com/office/drawing/2014/main" id="{732E2F8E-8A57-16AD-E908-A8920FDFD484}"/>
              </a:ext>
            </a:extLst>
          </p:cNvPr>
          <p:cNvPicPr>
            <a:picLocks noChangeAspect="1"/>
          </p:cNvPicPr>
          <p:nvPr/>
        </p:nvPicPr>
        <p:blipFill>
          <a:blip r:embed="rId2"/>
          <a:stretch>
            <a:fillRect/>
          </a:stretch>
        </p:blipFill>
        <p:spPr>
          <a:xfrm>
            <a:off x="1946713" y="1849104"/>
            <a:ext cx="7027603" cy="2429214"/>
          </a:xfrm>
          <a:prstGeom prst="rect">
            <a:avLst/>
          </a:prstGeom>
        </p:spPr>
      </p:pic>
    </p:spTree>
    <p:extLst>
      <p:ext uri="{BB962C8B-B14F-4D97-AF65-F5344CB8AC3E}">
        <p14:creationId xmlns:p14="http://schemas.microsoft.com/office/powerpoint/2010/main" val="2509638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15F6F-1D3F-CF64-3989-A7E2A0963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9AC36-D53E-83B5-5DD7-937B0C834636}"/>
              </a:ext>
            </a:extLst>
          </p:cNvPr>
          <p:cNvSpPr>
            <a:spLocks noGrp="1"/>
          </p:cNvSpPr>
          <p:nvPr>
            <p:ph type="title"/>
          </p:nvPr>
        </p:nvSpPr>
        <p:spPr>
          <a:xfrm>
            <a:off x="677334" y="609600"/>
            <a:ext cx="8596668" cy="823274"/>
          </a:xfrm>
        </p:spPr>
        <p:txBody>
          <a:bodyPr>
            <a:normAutofit/>
          </a:bodyPr>
          <a:lstStyle/>
          <a:p>
            <a:r>
              <a:rPr lang="en-IN" dirty="0"/>
              <a:t>Customer Segment Revenue</a:t>
            </a:r>
          </a:p>
        </p:txBody>
      </p:sp>
      <p:sp>
        <p:nvSpPr>
          <p:cNvPr id="6" name="Content Placeholder 5">
            <a:extLst>
              <a:ext uri="{FF2B5EF4-FFF2-40B4-BE49-F238E27FC236}">
                <a16:creationId xmlns:a16="http://schemas.microsoft.com/office/drawing/2014/main" id="{BFB15AE0-0CC7-E01E-E1AC-C729EF5D4807}"/>
              </a:ext>
            </a:extLst>
          </p:cNvPr>
          <p:cNvSpPr>
            <a:spLocks noGrp="1"/>
          </p:cNvSpPr>
          <p:nvPr>
            <p:ph idx="1"/>
          </p:nvPr>
        </p:nvSpPr>
        <p:spPr>
          <a:xfrm>
            <a:off x="1395167" y="4572000"/>
            <a:ext cx="8596668" cy="2045617"/>
          </a:xfrm>
        </p:spPr>
        <p:txBody>
          <a:bodyPr>
            <a:normAutofit/>
          </a:bodyPr>
          <a:lstStyle/>
          <a:p>
            <a:pPr marL="0" indent="0">
              <a:buNone/>
            </a:pPr>
            <a:r>
              <a:rPr lang="en-IN" dirty="0"/>
              <a:t>The mid-tier segment generates the highest sales compared to both top and low-tier customers. This indicates that medium-value customers contribute the most to overall revenue. Their consistent purchasing </a:t>
            </a:r>
            <a:r>
              <a:rPr lang="en-IN" dirty="0" err="1"/>
              <a:t>behavior</a:t>
            </a:r>
            <a:r>
              <a:rPr lang="en-IN" dirty="0"/>
              <a:t> makes them a key driver of business performance.</a:t>
            </a:r>
          </a:p>
        </p:txBody>
      </p:sp>
      <p:pic>
        <p:nvPicPr>
          <p:cNvPr id="5" name="Picture 4">
            <a:extLst>
              <a:ext uri="{FF2B5EF4-FFF2-40B4-BE49-F238E27FC236}">
                <a16:creationId xmlns:a16="http://schemas.microsoft.com/office/drawing/2014/main" id="{AA09EDB5-D24D-1644-056F-CD403D13420D}"/>
              </a:ext>
            </a:extLst>
          </p:cNvPr>
          <p:cNvPicPr>
            <a:picLocks noChangeAspect="1"/>
          </p:cNvPicPr>
          <p:nvPr/>
        </p:nvPicPr>
        <p:blipFill>
          <a:blip r:embed="rId2"/>
          <a:stretch>
            <a:fillRect/>
          </a:stretch>
        </p:blipFill>
        <p:spPr>
          <a:xfrm>
            <a:off x="2135449" y="1868007"/>
            <a:ext cx="6563641" cy="2419688"/>
          </a:xfrm>
          <a:prstGeom prst="rect">
            <a:avLst/>
          </a:prstGeom>
        </p:spPr>
      </p:pic>
    </p:spTree>
    <p:extLst>
      <p:ext uri="{BB962C8B-B14F-4D97-AF65-F5344CB8AC3E}">
        <p14:creationId xmlns:p14="http://schemas.microsoft.com/office/powerpoint/2010/main" val="3621731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6A968-23D9-DCE8-3967-7310C4DB0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3A507-84DC-1A50-C89C-2F4C0BD96E45}"/>
              </a:ext>
            </a:extLst>
          </p:cNvPr>
          <p:cNvSpPr>
            <a:spLocks noGrp="1"/>
          </p:cNvSpPr>
          <p:nvPr>
            <p:ph type="title"/>
          </p:nvPr>
        </p:nvSpPr>
        <p:spPr>
          <a:xfrm>
            <a:off x="677333" y="609600"/>
            <a:ext cx="8975714" cy="823274"/>
          </a:xfrm>
        </p:spPr>
        <p:txBody>
          <a:bodyPr>
            <a:normAutofit fontScale="90000"/>
          </a:bodyPr>
          <a:lstStyle/>
          <a:p>
            <a:r>
              <a:rPr lang="en-IN" dirty="0"/>
              <a:t>Distribution of films by rental duration</a:t>
            </a:r>
          </a:p>
        </p:txBody>
      </p:sp>
      <p:sp>
        <p:nvSpPr>
          <p:cNvPr id="6" name="Content Placeholder 5">
            <a:extLst>
              <a:ext uri="{FF2B5EF4-FFF2-40B4-BE49-F238E27FC236}">
                <a16:creationId xmlns:a16="http://schemas.microsoft.com/office/drawing/2014/main" id="{39C5C86E-612F-946E-6B98-028E42C817B9}"/>
              </a:ext>
            </a:extLst>
          </p:cNvPr>
          <p:cNvSpPr>
            <a:spLocks noGrp="1"/>
          </p:cNvSpPr>
          <p:nvPr>
            <p:ph idx="1"/>
          </p:nvPr>
        </p:nvSpPr>
        <p:spPr>
          <a:xfrm>
            <a:off x="1602556" y="4967927"/>
            <a:ext cx="8596668" cy="2045617"/>
          </a:xfrm>
        </p:spPr>
        <p:txBody>
          <a:bodyPr>
            <a:normAutofit/>
          </a:bodyPr>
          <a:lstStyle/>
          <a:p>
            <a:pPr marL="0" indent="0">
              <a:buNone/>
            </a:pPr>
            <a:r>
              <a:rPr lang="en-IN" dirty="0"/>
              <a:t>The majority of films have a rental duration of 6 days, indicating a standard rental period across the dataset. This suggests uniformity in rental policies for most titles. Such consistency helps streamline operations and customer expectations.</a:t>
            </a:r>
          </a:p>
        </p:txBody>
      </p:sp>
      <p:pic>
        <p:nvPicPr>
          <p:cNvPr id="5" name="Picture 4">
            <a:extLst>
              <a:ext uri="{FF2B5EF4-FFF2-40B4-BE49-F238E27FC236}">
                <a16:creationId xmlns:a16="http://schemas.microsoft.com/office/drawing/2014/main" id="{5DBF357C-792E-25B9-2E97-E2DF914E3969}"/>
              </a:ext>
            </a:extLst>
          </p:cNvPr>
          <p:cNvPicPr>
            <a:picLocks noChangeAspect="1"/>
          </p:cNvPicPr>
          <p:nvPr/>
        </p:nvPicPr>
        <p:blipFill>
          <a:blip r:embed="rId2"/>
          <a:stretch>
            <a:fillRect/>
          </a:stretch>
        </p:blipFill>
        <p:spPr>
          <a:xfrm>
            <a:off x="2212443" y="1930295"/>
            <a:ext cx="7163800" cy="2676899"/>
          </a:xfrm>
          <a:prstGeom prst="rect">
            <a:avLst/>
          </a:prstGeom>
        </p:spPr>
      </p:pic>
    </p:spTree>
    <p:extLst>
      <p:ext uri="{BB962C8B-B14F-4D97-AF65-F5344CB8AC3E}">
        <p14:creationId xmlns:p14="http://schemas.microsoft.com/office/powerpoint/2010/main" val="360413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37706-CCCF-91F6-E645-45E369235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0B658-E08F-4D4E-FAD2-0BE268F0FCED}"/>
              </a:ext>
            </a:extLst>
          </p:cNvPr>
          <p:cNvSpPr>
            <a:spLocks noGrp="1"/>
          </p:cNvSpPr>
          <p:nvPr>
            <p:ph type="title"/>
          </p:nvPr>
        </p:nvSpPr>
        <p:spPr>
          <a:xfrm>
            <a:off x="677334" y="609600"/>
            <a:ext cx="8596668" cy="823274"/>
          </a:xfrm>
        </p:spPr>
        <p:txBody>
          <a:bodyPr/>
          <a:lstStyle/>
          <a:p>
            <a:r>
              <a:rPr lang="en-IN" dirty="0"/>
              <a:t>Inventory distribution by rating</a:t>
            </a:r>
          </a:p>
        </p:txBody>
      </p:sp>
      <p:sp>
        <p:nvSpPr>
          <p:cNvPr id="6" name="Content Placeholder 5">
            <a:extLst>
              <a:ext uri="{FF2B5EF4-FFF2-40B4-BE49-F238E27FC236}">
                <a16:creationId xmlns:a16="http://schemas.microsoft.com/office/drawing/2014/main" id="{908A42C3-51B9-13CF-CC27-5360F91E65CC}"/>
              </a:ext>
            </a:extLst>
          </p:cNvPr>
          <p:cNvSpPr>
            <a:spLocks noGrp="1"/>
          </p:cNvSpPr>
          <p:nvPr>
            <p:ph idx="1"/>
          </p:nvPr>
        </p:nvSpPr>
        <p:spPr>
          <a:xfrm>
            <a:off x="1611983" y="4812383"/>
            <a:ext cx="8596668" cy="2045617"/>
          </a:xfrm>
        </p:spPr>
        <p:txBody>
          <a:bodyPr>
            <a:normAutofit/>
          </a:bodyPr>
          <a:lstStyle/>
          <a:p>
            <a:pPr marL="0" indent="0">
              <a:buNone/>
            </a:pPr>
            <a:r>
              <a:rPr lang="en-IN" dirty="0"/>
              <a:t>PG-13 rated films dominate the inventory, indicating a higher focus on content suited for a broader audience. In contrast, G-rated films have minimal stock, suggesting lower availability or demand. This reflects a preference for moderately mature content in the inventory mix.</a:t>
            </a:r>
          </a:p>
        </p:txBody>
      </p:sp>
      <p:pic>
        <p:nvPicPr>
          <p:cNvPr id="5" name="Picture 4">
            <a:extLst>
              <a:ext uri="{FF2B5EF4-FFF2-40B4-BE49-F238E27FC236}">
                <a16:creationId xmlns:a16="http://schemas.microsoft.com/office/drawing/2014/main" id="{39379890-BB9B-F3E9-C2FD-C2AA64E7BCF5}"/>
              </a:ext>
            </a:extLst>
          </p:cNvPr>
          <p:cNvPicPr>
            <a:picLocks noChangeAspect="1"/>
          </p:cNvPicPr>
          <p:nvPr/>
        </p:nvPicPr>
        <p:blipFill>
          <a:blip r:embed="rId2"/>
          <a:stretch>
            <a:fillRect/>
          </a:stretch>
        </p:blipFill>
        <p:spPr>
          <a:xfrm>
            <a:off x="2193091" y="1971810"/>
            <a:ext cx="7259063" cy="2553056"/>
          </a:xfrm>
          <a:prstGeom prst="rect">
            <a:avLst/>
          </a:prstGeom>
        </p:spPr>
      </p:pic>
    </p:spTree>
    <p:extLst>
      <p:ext uri="{BB962C8B-B14F-4D97-AF65-F5344CB8AC3E}">
        <p14:creationId xmlns:p14="http://schemas.microsoft.com/office/powerpoint/2010/main" val="4099036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79713-EA07-38E8-2B55-D5B3CAF03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BB55E-1C3C-F088-4B33-680E474A1840}"/>
              </a:ext>
            </a:extLst>
          </p:cNvPr>
          <p:cNvSpPr>
            <a:spLocks noGrp="1"/>
          </p:cNvSpPr>
          <p:nvPr>
            <p:ph type="title"/>
          </p:nvPr>
        </p:nvSpPr>
        <p:spPr>
          <a:xfrm>
            <a:off x="677334" y="609600"/>
            <a:ext cx="8596668" cy="823274"/>
          </a:xfrm>
        </p:spPr>
        <p:txBody>
          <a:bodyPr>
            <a:normAutofit/>
          </a:bodyPr>
          <a:lstStyle/>
          <a:p>
            <a:r>
              <a:rPr lang="en-IN" dirty="0"/>
              <a:t>store performance by country</a:t>
            </a:r>
          </a:p>
        </p:txBody>
      </p:sp>
      <p:sp>
        <p:nvSpPr>
          <p:cNvPr id="6" name="Content Placeholder 5">
            <a:extLst>
              <a:ext uri="{FF2B5EF4-FFF2-40B4-BE49-F238E27FC236}">
                <a16:creationId xmlns:a16="http://schemas.microsoft.com/office/drawing/2014/main" id="{9A4F351E-578F-B5D6-73C0-3964E45A1347}"/>
              </a:ext>
            </a:extLst>
          </p:cNvPr>
          <p:cNvSpPr>
            <a:spLocks noGrp="1"/>
          </p:cNvSpPr>
          <p:nvPr>
            <p:ph idx="1"/>
          </p:nvPr>
        </p:nvSpPr>
        <p:spPr>
          <a:xfrm>
            <a:off x="1611983" y="4741683"/>
            <a:ext cx="8596668" cy="2045617"/>
          </a:xfrm>
        </p:spPr>
        <p:txBody>
          <a:bodyPr>
            <a:normAutofit/>
          </a:bodyPr>
          <a:lstStyle/>
          <a:p>
            <a:pPr marL="0" indent="0">
              <a:buNone/>
            </a:pPr>
            <a:r>
              <a:rPr lang="en-IN" dirty="0"/>
              <a:t>Store 1 maintains consistent performance across all locations, showing stable operations. Store 2, however, performs strongly in Australia but underperforms in Canada, highlighting location-specific variability in rental activity.</a:t>
            </a:r>
          </a:p>
        </p:txBody>
      </p:sp>
      <p:pic>
        <p:nvPicPr>
          <p:cNvPr id="4" name="Picture 3">
            <a:extLst>
              <a:ext uri="{FF2B5EF4-FFF2-40B4-BE49-F238E27FC236}">
                <a16:creationId xmlns:a16="http://schemas.microsoft.com/office/drawing/2014/main" id="{F6D1B19F-CCFD-C3C7-7D01-D5FDB6F0D544}"/>
              </a:ext>
            </a:extLst>
          </p:cNvPr>
          <p:cNvPicPr>
            <a:picLocks noChangeAspect="1"/>
          </p:cNvPicPr>
          <p:nvPr/>
        </p:nvPicPr>
        <p:blipFill>
          <a:blip r:embed="rId2"/>
          <a:stretch>
            <a:fillRect/>
          </a:stretch>
        </p:blipFill>
        <p:spPr>
          <a:xfrm>
            <a:off x="2073897" y="1964533"/>
            <a:ext cx="6993237" cy="2438740"/>
          </a:xfrm>
          <a:prstGeom prst="rect">
            <a:avLst/>
          </a:prstGeom>
        </p:spPr>
      </p:pic>
    </p:spTree>
    <p:extLst>
      <p:ext uri="{BB962C8B-B14F-4D97-AF65-F5344CB8AC3E}">
        <p14:creationId xmlns:p14="http://schemas.microsoft.com/office/powerpoint/2010/main" val="3850812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4AD86-C224-A384-1E33-6B70D3621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7303D-C324-F3F6-F4EC-61FF8025D46A}"/>
              </a:ext>
            </a:extLst>
          </p:cNvPr>
          <p:cNvSpPr>
            <a:spLocks noGrp="1"/>
          </p:cNvSpPr>
          <p:nvPr>
            <p:ph type="title"/>
          </p:nvPr>
        </p:nvSpPr>
        <p:spPr>
          <a:xfrm>
            <a:off x="677334" y="609600"/>
            <a:ext cx="8596668" cy="823274"/>
          </a:xfrm>
        </p:spPr>
        <p:txBody>
          <a:bodyPr/>
          <a:lstStyle/>
          <a:p>
            <a:r>
              <a:rPr lang="en-IN" dirty="0"/>
              <a:t>Customer distribution by city</a:t>
            </a:r>
          </a:p>
        </p:txBody>
      </p:sp>
      <p:sp>
        <p:nvSpPr>
          <p:cNvPr id="6" name="Content Placeholder 5">
            <a:extLst>
              <a:ext uri="{FF2B5EF4-FFF2-40B4-BE49-F238E27FC236}">
                <a16:creationId xmlns:a16="http://schemas.microsoft.com/office/drawing/2014/main" id="{0AFA7309-93A3-3744-083B-E103FAFACD70}"/>
              </a:ext>
            </a:extLst>
          </p:cNvPr>
          <p:cNvSpPr>
            <a:spLocks noGrp="1"/>
          </p:cNvSpPr>
          <p:nvPr>
            <p:ph idx="1"/>
          </p:nvPr>
        </p:nvSpPr>
        <p:spPr>
          <a:xfrm>
            <a:off x="1545995" y="4812383"/>
            <a:ext cx="8596668" cy="2045617"/>
          </a:xfrm>
        </p:spPr>
        <p:txBody>
          <a:bodyPr>
            <a:normAutofit/>
          </a:bodyPr>
          <a:lstStyle/>
          <a:p>
            <a:pPr marL="0" indent="0">
              <a:buNone/>
            </a:pPr>
            <a:r>
              <a:rPr lang="en-IN" dirty="0"/>
              <a:t>Lethbridge and Woodridge exhibit similar rental counts, reflecting consistent customer engagement in both locations. This suggests comparable demand patterns and stable performance, making them reliable markets for targeted promotions and inventory planning.</a:t>
            </a:r>
          </a:p>
        </p:txBody>
      </p:sp>
      <p:pic>
        <p:nvPicPr>
          <p:cNvPr id="4" name="Picture 3">
            <a:extLst>
              <a:ext uri="{FF2B5EF4-FFF2-40B4-BE49-F238E27FC236}">
                <a16:creationId xmlns:a16="http://schemas.microsoft.com/office/drawing/2014/main" id="{390B4C0B-202E-4EB8-EF55-B00C230C1B64}"/>
              </a:ext>
            </a:extLst>
          </p:cNvPr>
          <p:cNvPicPr>
            <a:picLocks noChangeAspect="1"/>
          </p:cNvPicPr>
          <p:nvPr/>
        </p:nvPicPr>
        <p:blipFill>
          <a:blip r:embed="rId2"/>
          <a:stretch>
            <a:fillRect/>
          </a:stretch>
        </p:blipFill>
        <p:spPr>
          <a:xfrm>
            <a:off x="2403764" y="1955107"/>
            <a:ext cx="6630325" cy="2438740"/>
          </a:xfrm>
          <a:prstGeom prst="rect">
            <a:avLst/>
          </a:prstGeom>
        </p:spPr>
      </p:pic>
    </p:spTree>
    <p:extLst>
      <p:ext uri="{BB962C8B-B14F-4D97-AF65-F5344CB8AC3E}">
        <p14:creationId xmlns:p14="http://schemas.microsoft.com/office/powerpoint/2010/main" val="408803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DE833-A73F-24A5-7211-B081A5B0C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88174-4275-4268-C7B7-56E52190C5E6}"/>
              </a:ext>
            </a:extLst>
          </p:cNvPr>
          <p:cNvSpPr>
            <a:spLocks noGrp="1"/>
          </p:cNvSpPr>
          <p:nvPr>
            <p:ph type="title"/>
          </p:nvPr>
        </p:nvSpPr>
        <p:spPr>
          <a:xfrm>
            <a:off x="677334" y="609600"/>
            <a:ext cx="8596668" cy="823274"/>
          </a:xfrm>
        </p:spPr>
        <p:txBody>
          <a:bodyPr/>
          <a:lstStyle/>
          <a:p>
            <a:r>
              <a:rPr lang="en-IN" dirty="0"/>
              <a:t>Top category</a:t>
            </a:r>
          </a:p>
        </p:txBody>
      </p:sp>
      <p:sp>
        <p:nvSpPr>
          <p:cNvPr id="6" name="Content Placeholder 5">
            <a:extLst>
              <a:ext uri="{FF2B5EF4-FFF2-40B4-BE49-F238E27FC236}">
                <a16:creationId xmlns:a16="http://schemas.microsoft.com/office/drawing/2014/main" id="{65D875AE-DCB6-D89E-47C8-EAACFBE8D816}"/>
              </a:ext>
            </a:extLst>
          </p:cNvPr>
          <p:cNvSpPr>
            <a:spLocks noGrp="1"/>
          </p:cNvSpPr>
          <p:nvPr>
            <p:ph idx="1"/>
          </p:nvPr>
        </p:nvSpPr>
        <p:spPr>
          <a:xfrm>
            <a:off x="1630837" y="5000919"/>
            <a:ext cx="8596668" cy="2045617"/>
          </a:xfrm>
        </p:spPr>
        <p:txBody>
          <a:bodyPr>
            <a:normAutofit/>
          </a:bodyPr>
          <a:lstStyle/>
          <a:p>
            <a:pPr marL="0" indent="0">
              <a:buNone/>
            </a:pPr>
            <a:r>
              <a:rPr lang="en-IN" dirty="0"/>
              <a:t>Sports and Foreign films carry higher rental prices, indicating strong demand and perceived premium value. In contrast, Music and Classics are priced lower, appealing to a broader audience and encouraging frequent rentals. This pricing pattern suggests opportunities to optimize revenue by balancing premium and high-volume categories.</a:t>
            </a:r>
          </a:p>
        </p:txBody>
      </p:sp>
      <p:pic>
        <p:nvPicPr>
          <p:cNvPr id="4" name="Picture 3">
            <a:extLst>
              <a:ext uri="{FF2B5EF4-FFF2-40B4-BE49-F238E27FC236}">
                <a16:creationId xmlns:a16="http://schemas.microsoft.com/office/drawing/2014/main" id="{A34BFCA9-DFB2-ECCC-2279-7381F242639B}"/>
              </a:ext>
            </a:extLst>
          </p:cNvPr>
          <p:cNvPicPr>
            <a:picLocks noChangeAspect="1"/>
          </p:cNvPicPr>
          <p:nvPr/>
        </p:nvPicPr>
        <p:blipFill>
          <a:blip r:embed="rId2"/>
          <a:stretch>
            <a:fillRect/>
          </a:stretch>
        </p:blipFill>
        <p:spPr>
          <a:xfrm>
            <a:off x="2659582" y="1505020"/>
            <a:ext cx="6382641" cy="3019846"/>
          </a:xfrm>
          <a:prstGeom prst="rect">
            <a:avLst/>
          </a:prstGeom>
        </p:spPr>
      </p:pic>
    </p:spTree>
    <p:extLst>
      <p:ext uri="{BB962C8B-B14F-4D97-AF65-F5344CB8AC3E}">
        <p14:creationId xmlns:p14="http://schemas.microsoft.com/office/powerpoint/2010/main" val="3797528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719AB-763D-7704-CDD1-467F28ECF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44D50-30C3-D2C4-1F71-2175AE8B7A1B}"/>
              </a:ext>
            </a:extLst>
          </p:cNvPr>
          <p:cNvSpPr>
            <a:spLocks noGrp="1"/>
          </p:cNvSpPr>
          <p:nvPr>
            <p:ph type="title"/>
          </p:nvPr>
        </p:nvSpPr>
        <p:spPr>
          <a:xfrm>
            <a:off x="677334" y="609600"/>
            <a:ext cx="8596668" cy="823274"/>
          </a:xfrm>
        </p:spPr>
        <p:txBody>
          <a:bodyPr/>
          <a:lstStyle/>
          <a:p>
            <a:r>
              <a:rPr lang="en-IN" dirty="0"/>
              <a:t>rental revenue by country</a:t>
            </a:r>
          </a:p>
        </p:txBody>
      </p:sp>
      <p:sp>
        <p:nvSpPr>
          <p:cNvPr id="6" name="Content Placeholder 5">
            <a:extLst>
              <a:ext uri="{FF2B5EF4-FFF2-40B4-BE49-F238E27FC236}">
                <a16:creationId xmlns:a16="http://schemas.microsoft.com/office/drawing/2014/main" id="{40195139-DF50-39B2-F3CF-E0BCBDDDF7AF}"/>
              </a:ext>
            </a:extLst>
          </p:cNvPr>
          <p:cNvSpPr>
            <a:spLocks noGrp="1"/>
          </p:cNvSpPr>
          <p:nvPr>
            <p:ph idx="1"/>
          </p:nvPr>
        </p:nvSpPr>
        <p:spPr>
          <a:xfrm>
            <a:off x="1564849" y="4722829"/>
            <a:ext cx="8596668" cy="2045617"/>
          </a:xfrm>
        </p:spPr>
        <p:txBody>
          <a:bodyPr>
            <a:normAutofit/>
          </a:bodyPr>
          <a:lstStyle/>
          <a:p>
            <a:pPr marL="0" indent="0">
              <a:buNone/>
            </a:pPr>
            <a:r>
              <a:rPr lang="en-IN" dirty="0"/>
              <a:t>Australia and Canada show similar revenue, while other locations contribute little or none. This highlights strong regional concentration and the need to focus on key markets for better performance.</a:t>
            </a:r>
          </a:p>
        </p:txBody>
      </p:sp>
      <p:pic>
        <p:nvPicPr>
          <p:cNvPr id="4" name="Picture 3">
            <a:extLst>
              <a:ext uri="{FF2B5EF4-FFF2-40B4-BE49-F238E27FC236}">
                <a16:creationId xmlns:a16="http://schemas.microsoft.com/office/drawing/2014/main" id="{6BFA3EC9-4F32-39D7-97F8-FC05FCE46B0E}"/>
              </a:ext>
            </a:extLst>
          </p:cNvPr>
          <p:cNvPicPr>
            <a:picLocks noChangeAspect="1"/>
          </p:cNvPicPr>
          <p:nvPr/>
        </p:nvPicPr>
        <p:blipFill>
          <a:blip r:embed="rId2"/>
          <a:stretch>
            <a:fillRect/>
          </a:stretch>
        </p:blipFill>
        <p:spPr>
          <a:xfrm>
            <a:off x="1979629" y="1811894"/>
            <a:ext cx="6861063" cy="2425629"/>
          </a:xfrm>
          <a:prstGeom prst="rect">
            <a:avLst/>
          </a:prstGeom>
        </p:spPr>
      </p:pic>
    </p:spTree>
    <p:extLst>
      <p:ext uri="{BB962C8B-B14F-4D97-AF65-F5344CB8AC3E}">
        <p14:creationId xmlns:p14="http://schemas.microsoft.com/office/powerpoint/2010/main" val="3403628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72F32-1BFE-7F90-C1A2-9926E6115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C72C3-23DB-0525-A6BF-E22A073C8B61}"/>
              </a:ext>
            </a:extLst>
          </p:cNvPr>
          <p:cNvSpPr>
            <a:spLocks noGrp="1"/>
          </p:cNvSpPr>
          <p:nvPr>
            <p:ph type="title"/>
          </p:nvPr>
        </p:nvSpPr>
        <p:spPr>
          <a:xfrm>
            <a:off x="677334" y="609600"/>
            <a:ext cx="8596668" cy="823274"/>
          </a:xfrm>
        </p:spPr>
        <p:txBody>
          <a:bodyPr>
            <a:normAutofit fontScale="90000"/>
          </a:bodyPr>
          <a:lstStyle/>
          <a:p>
            <a:r>
              <a:rPr lang="en-IN" dirty="0"/>
              <a:t>Average rental duration for category</a:t>
            </a:r>
          </a:p>
        </p:txBody>
      </p:sp>
      <p:sp>
        <p:nvSpPr>
          <p:cNvPr id="6" name="Content Placeholder 5">
            <a:extLst>
              <a:ext uri="{FF2B5EF4-FFF2-40B4-BE49-F238E27FC236}">
                <a16:creationId xmlns:a16="http://schemas.microsoft.com/office/drawing/2014/main" id="{DAD060CA-735A-6FE3-6986-E897EB328936}"/>
              </a:ext>
            </a:extLst>
          </p:cNvPr>
          <p:cNvSpPr>
            <a:spLocks noGrp="1"/>
          </p:cNvSpPr>
          <p:nvPr>
            <p:ph idx="1"/>
          </p:nvPr>
        </p:nvSpPr>
        <p:spPr>
          <a:xfrm>
            <a:off x="1564849" y="4722829"/>
            <a:ext cx="8596668" cy="2045617"/>
          </a:xfrm>
        </p:spPr>
        <p:txBody>
          <a:bodyPr>
            <a:normAutofit/>
          </a:bodyPr>
          <a:lstStyle/>
          <a:p>
            <a:pPr marL="0" indent="0">
              <a:buNone/>
            </a:pPr>
            <a:r>
              <a:rPr lang="en-IN" dirty="0"/>
              <a:t>Travel and Music categories tend to have longer rental periods, reflecting slower consumption or greater customer engagement. In contrast, Sports and News titles are returned more quickly, indicating faster turnover. Understanding these patterns can help optimize inventory, manage availability, and tailor promotions for different film categories.</a:t>
            </a:r>
          </a:p>
        </p:txBody>
      </p:sp>
      <p:pic>
        <p:nvPicPr>
          <p:cNvPr id="5" name="Picture 4">
            <a:extLst>
              <a:ext uri="{FF2B5EF4-FFF2-40B4-BE49-F238E27FC236}">
                <a16:creationId xmlns:a16="http://schemas.microsoft.com/office/drawing/2014/main" id="{ECCD040B-0012-86AE-FB43-BE10C2DADC41}"/>
              </a:ext>
            </a:extLst>
          </p:cNvPr>
          <p:cNvPicPr>
            <a:picLocks noChangeAspect="1"/>
          </p:cNvPicPr>
          <p:nvPr/>
        </p:nvPicPr>
        <p:blipFill>
          <a:blip r:embed="rId2"/>
          <a:stretch>
            <a:fillRect/>
          </a:stretch>
        </p:blipFill>
        <p:spPr>
          <a:xfrm>
            <a:off x="1800520" y="1757143"/>
            <a:ext cx="7320667" cy="2635747"/>
          </a:xfrm>
          <a:prstGeom prst="rect">
            <a:avLst/>
          </a:prstGeom>
        </p:spPr>
      </p:pic>
    </p:spTree>
    <p:extLst>
      <p:ext uri="{BB962C8B-B14F-4D97-AF65-F5344CB8AC3E}">
        <p14:creationId xmlns:p14="http://schemas.microsoft.com/office/powerpoint/2010/main" val="4054717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7BDA1-CE4D-DB70-E8A4-7E175D9D2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86A47-CFB4-DEA1-5DFE-EE9A493CD8A1}"/>
              </a:ext>
            </a:extLst>
          </p:cNvPr>
          <p:cNvSpPr>
            <a:spLocks noGrp="1"/>
          </p:cNvSpPr>
          <p:nvPr>
            <p:ph type="title"/>
          </p:nvPr>
        </p:nvSpPr>
        <p:spPr>
          <a:xfrm>
            <a:off x="677334" y="609600"/>
            <a:ext cx="8596668" cy="823274"/>
          </a:xfrm>
        </p:spPr>
        <p:txBody>
          <a:bodyPr/>
          <a:lstStyle/>
          <a:p>
            <a:r>
              <a:rPr lang="en-IN" dirty="0"/>
              <a:t>Percentage of sales by category</a:t>
            </a:r>
          </a:p>
        </p:txBody>
      </p:sp>
      <p:sp>
        <p:nvSpPr>
          <p:cNvPr id="6" name="Content Placeholder 5">
            <a:extLst>
              <a:ext uri="{FF2B5EF4-FFF2-40B4-BE49-F238E27FC236}">
                <a16:creationId xmlns:a16="http://schemas.microsoft.com/office/drawing/2014/main" id="{5871EA38-4169-B737-E700-986C18B694FE}"/>
              </a:ext>
            </a:extLst>
          </p:cNvPr>
          <p:cNvSpPr>
            <a:spLocks noGrp="1"/>
          </p:cNvSpPr>
          <p:nvPr>
            <p:ph idx="1"/>
          </p:nvPr>
        </p:nvSpPr>
        <p:spPr>
          <a:xfrm>
            <a:off x="1564849" y="4722829"/>
            <a:ext cx="8596668" cy="2045617"/>
          </a:xfrm>
        </p:spPr>
        <p:txBody>
          <a:bodyPr>
            <a:normAutofit/>
          </a:bodyPr>
          <a:lstStyle/>
          <a:p>
            <a:pPr marL="0" indent="0">
              <a:buNone/>
            </a:pPr>
            <a:r>
              <a:rPr lang="en-IN" dirty="0"/>
              <a:t>Sports and Sci-Fi films contribute a higher percentage of total sales, highlighting their popularity and revenue impact. In contrast, Travel and Music categories generate a smaller share of sales. Focusing on high-performing categories while strategically promoting lower-performing ones can help boost overall revenue.</a:t>
            </a:r>
          </a:p>
        </p:txBody>
      </p:sp>
      <p:pic>
        <p:nvPicPr>
          <p:cNvPr id="5" name="Picture 4">
            <a:extLst>
              <a:ext uri="{FF2B5EF4-FFF2-40B4-BE49-F238E27FC236}">
                <a16:creationId xmlns:a16="http://schemas.microsoft.com/office/drawing/2014/main" id="{675A0191-014E-FF38-51B9-464FDEEDBC18}"/>
              </a:ext>
            </a:extLst>
          </p:cNvPr>
          <p:cNvPicPr>
            <a:picLocks noChangeAspect="1"/>
          </p:cNvPicPr>
          <p:nvPr/>
        </p:nvPicPr>
        <p:blipFill>
          <a:blip r:embed="rId2"/>
          <a:stretch>
            <a:fillRect/>
          </a:stretch>
        </p:blipFill>
        <p:spPr>
          <a:xfrm>
            <a:off x="1423447" y="1954124"/>
            <a:ext cx="8738069" cy="2198342"/>
          </a:xfrm>
          <a:prstGeom prst="rect">
            <a:avLst/>
          </a:prstGeom>
        </p:spPr>
      </p:pic>
    </p:spTree>
    <p:extLst>
      <p:ext uri="{BB962C8B-B14F-4D97-AF65-F5344CB8AC3E}">
        <p14:creationId xmlns:p14="http://schemas.microsoft.com/office/powerpoint/2010/main" val="2341356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4C802-B27D-1E21-A443-0811A7D1D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CCE88-E2B6-7853-C7FC-D2EAE1B93A6A}"/>
              </a:ext>
            </a:extLst>
          </p:cNvPr>
          <p:cNvSpPr>
            <a:spLocks noGrp="1"/>
          </p:cNvSpPr>
          <p:nvPr>
            <p:ph type="title"/>
          </p:nvPr>
        </p:nvSpPr>
        <p:spPr>
          <a:xfrm>
            <a:off x="677334" y="609600"/>
            <a:ext cx="8596668" cy="823274"/>
          </a:xfrm>
        </p:spPr>
        <p:txBody>
          <a:bodyPr/>
          <a:lstStyle/>
          <a:p>
            <a:r>
              <a:rPr lang="en-IN" dirty="0"/>
              <a:t>store revenue </a:t>
            </a:r>
          </a:p>
        </p:txBody>
      </p:sp>
      <p:sp>
        <p:nvSpPr>
          <p:cNvPr id="6" name="Content Placeholder 5">
            <a:extLst>
              <a:ext uri="{FF2B5EF4-FFF2-40B4-BE49-F238E27FC236}">
                <a16:creationId xmlns:a16="http://schemas.microsoft.com/office/drawing/2014/main" id="{C0FFC8EB-86F1-DC6F-DF55-5B872468205D}"/>
              </a:ext>
            </a:extLst>
          </p:cNvPr>
          <p:cNvSpPr>
            <a:spLocks noGrp="1"/>
          </p:cNvSpPr>
          <p:nvPr>
            <p:ph idx="1"/>
          </p:nvPr>
        </p:nvSpPr>
        <p:spPr>
          <a:xfrm>
            <a:off x="1564849" y="4722829"/>
            <a:ext cx="8596668" cy="2045617"/>
          </a:xfrm>
        </p:spPr>
        <p:txBody>
          <a:bodyPr>
            <a:normAutofit/>
          </a:bodyPr>
          <a:lstStyle/>
          <a:p>
            <a:pPr marL="0" indent="0">
              <a:buNone/>
            </a:pPr>
            <a:r>
              <a:rPr lang="en-IN" dirty="0"/>
              <a:t>Store 2 records slightly higher sales compared to Store 1, indicating stronger performance in select locations. Monitoring these trends can help identify strategies to maintain and grow sales further.</a:t>
            </a:r>
          </a:p>
        </p:txBody>
      </p:sp>
      <p:pic>
        <p:nvPicPr>
          <p:cNvPr id="8" name="Picture 7">
            <a:extLst>
              <a:ext uri="{FF2B5EF4-FFF2-40B4-BE49-F238E27FC236}">
                <a16:creationId xmlns:a16="http://schemas.microsoft.com/office/drawing/2014/main" id="{FF1C104F-1FAF-38DF-079A-00427970C55C}"/>
              </a:ext>
            </a:extLst>
          </p:cNvPr>
          <p:cNvPicPr>
            <a:picLocks noChangeAspect="1"/>
          </p:cNvPicPr>
          <p:nvPr/>
        </p:nvPicPr>
        <p:blipFill>
          <a:blip r:embed="rId2"/>
          <a:stretch>
            <a:fillRect/>
          </a:stretch>
        </p:blipFill>
        <p:spPr>
          <a:xfrm>
            <a:off x="2582945" y="1829525"/>
            <a:ext cx="5373278" cy="2496652"/>
          </a:xfrm>
          <a:prstGeom prst="rect">
            <a:avLst/>
          </a:prstGeom>
        </p:spPr>
      </p:pic>
    </p:spTree>
    <p:extLst>
      <p:ext uri="{BB962C8B-B14F-4D97-AF65-F5344CB8AC3E}">
        <p14:creationId xmlns:p14="http://schemas.microsoft.com/office/powerpoint/2010/main" val="66204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410A7-9836-1549-F49F-A2B542571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0761F-3CC7-FCCE-FF74-A17AD7D49FF8}"/>
              </a:ext>
            </a:extLst>
          </p:cNvPr>
          <p:cNvSpPr>
            <a:spLocks noGrp="1"/>
          </p:cNvSpPr>
          <p:nvPr>
            <p:ph type="title"/>
          </p:nvPr>
        </p:nvSpPr>
        <p:spPr>
          <a:xfrm>
            <a:off x="677334" y="609600"/>
            <a:ext cx="8596668" cy="823274"/>
          </a:xfrm>
        </p:spPr>
        <p:txBody>
          <a:bodyPr/>
          <a:lstStyle/>
          <a:p>
            <a:r>
              <a:rPr lang="en-IN" dirty="0"/>
              <a:t>revenue by film rating</a:t>
            </a:r>
          </a:p>
        </p:txBody>
      </p:sp>
      <p:sp>
        <p:nvSpPr>
          <p:cNvPr id="6" name="Content Placeholder 5">
            <a:extLst>
              <a:ext uri="{FF2B5EF4-FFF2-40B4-BE49-F238E27FC236}">
                <a16:creationId xmlns:a16="http://schemas.microsoft.com/office/drawing/2014/main" id="{1A262DD7-AC01-8C67-96B3-F3C1109785AE}"/>
              </a:ext>
            </a:extLst>
          </p:cNvPr>
          <p:cNvSpPr>
            <a:spLocks noGrp="1"/>
          </p:cNvSpPr>
          <p:nvPr>
            <p:ph idx="1"/>
          </p:nvPr>
        </p:nvSpPr>
        <p:spPr>
          <a:xfrm>
            <a:off x="1564849" y="4722829"/>
            <a:ext cx="8596668" cy="2045617"/>
          </a:xfrm>
        </p:spPr>
        <p:txBody>
          <a:bodyPr>
            <a:normAutofit/>
          </a:bodyPr>
          <a:lstStyle/>
          <a:p>
            <a:pPr marL="0" indent="0">
              <a:buNone/>
            </a:pPr>
            <a:r>
              <a:rPr lang="en-IN" dirty="0"/>
              <a:t>PG-13 films generate the highest revenue, reflecting strong customer preference. Other ratings contribute moderately, while G-rated films bring in the least. This highlights the importance of focusing on popular ratings to maximize rental income.</a:t>
            </a:r>
          </a:p>
        </p:txBody>
      </p:sp>
      <p:pic>
        <p:nvPicPr>
          <p:cNvPr id="5" name="Picture 4">
            <a:extLst>
              <a:ext uri="{FF2B5EF4-FFF2-40B4-BE49-F238E27FC236}">
                <a16:creationId xmlns:a16="http://schemas.microsoft.com/office/drawing/2014/main" id="{AA950764-E31D-E303-D828-4D083DFB83BE}"/>
              </a:ext>
            </a:extLst>
          </p:cNvPr>
          <p:cNvPicPr>
            <a:picLocks noChangeAspect="1"/>
          </p:cNvPicPr>
          <p:nvPr/>
        </p:nvPicPr>
        <p:blipFill>
          <a:blip r:embed="rId2"/>
          <a:stretch>
            <a:fillRect/>
          </a:stretch>
        </p:blipFill>
        <p:spPr>
          <a:xfrm>
            <a:off x="2545237" y="2024179"/>
            <a:ext cx="5408975" cy="2302724"/>
          </a:xfrm>
          <a:prstGeom prst="rect">
            <a:avLst/>
          </a:prstGeom>
        </p:spPr>
      </p:pic>
    </p:spTree>
    <p:extLst>
      <p:ext uri="{BB962C8B-B14F-4D97-AF65-F5344CB8AC3E}">
        <p14:creationId xmlns:p14="http://schemas.microsoft.com/office/powerpoint/2010/main" val="3241437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45100-224E-8432-76F1-430CB4960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16B6F-CCE0-D4FA-BC09-57D73913BC18}"/>
              </a:ext>
            </a:extLst>
          </p:cNvPr>
          <p:cNvSpPr>
            <a:spLocks noGrp="1"/>
          </p:cNvSpPr>
          <p:nvPr>
            <p:ph type="title"/>
          </p:nvPr>
        </p:nvSpPr>
        <p:spPr>
          <a:xfrm>
            <a:off x="677334" y="609600"/>
            <a:ext cx="8596668" cy="823274"/>
          </a:xfrm>
        </p:spPr>
        <p:txBody>
          <a:bodyPr/>
          <a:lstStyle/>
          <a:p>
            <a:r>
              <a:rPr lang="en-IN" dirty="0"/>
              <a:t>Customer purchase by category</a:t>
            </a:r>
          </a:p>
        </p:txBody>
      </p:sp>
      <p:sp>
        <p:nvSpPr>
          <p:cNvPr id="6" name="Content Placeholder 5">
            <a:extLst>
              <a:ext uri="{FF2B5EF4-FFF2-40B4-BE49-F238E27FC236}">
                <a16:creationId xmlns:a16="http://schemas.microsoft.com/office/drawing/2014/main" id="{211A3DDC-8299-443B-0A91-9B4683E87D9A}"/>
              </a:ext>
            </a:extLst>
          </p:cNvPr>
          <p:cNvSpPr>
            <a:spLocks noGrp="1"/>
          </p:cNvSpPr>
          <p:nvPr>
            <p:ph idx="1"/>
          </p:nvPr>
        </p:nvSpPr>
        <p:spPr>
          <a:xfrm>
            <a:off x="1564849" y="5316718"/>
            <a:ext cx="8596668" cy="1451728"/>
          </a:xfrm>
        </p:spPr>
        <p:txBody>
          <a:bodyPr>
            <a:normAutofit/>
          </a:bodyPr>
          <a:lstStyle/>
          <a:p>
            <a:pPr marL="0" indent="0">
              <a:buNone/>
            </a:pPr>
            <a:r>
              <a:rPr lang="en-IN" dirty="0"/>
              <a:t>Sports and Animation films are the most frequently rented, showing strong customer demand. In contrast, Travel and Music categories are rented less often. Prioritizing high-demand categories can help optimize inventory and drive overall rental performance.</a:t>
            </a:r>
          </a:p>
        </p:txBody>
      </p:sp>
      <p:pic>
        <p:nvPicPr>
          <p:cNvPr id="5" name="Picture 4">
            <a:extLst>
              <a:ext uri="{FF2B5EF4-FFF2-40B4-BE49-F238E27FC236}">
                <a16:creationId xmlns:a16="http://schemas.microsoft.com/office/drawing/2014/main" id="{10ADC570-CC0F-A41B-9BC5-9470F0B54B0E}"/>
              </a:ext>
            </a:extLst>
          </p:cNvPr>
          <p:cNvPicPr>
            <a:picLocks noChangeAspect="1"/>
          </p:cNvPicPr>
          <p:nvPr/>
        </p:nvPicPr>
        <p:blipFill>
          <a:blip r:embed="rId2"/>
          <a:stretch>
            <a:fillRect/>
          </a:stretch>
        </p:blipFill>
        <p:spPr>
          <a:xfrm>
            <a:off x="1929705" y="1432874"/>
            <a:ext cx="7697274" cy="3610479"/>
          </a:xfrm>
          <a:prstGeom prst="rect">
            <a:avLst/>
          </a:prstGeom>
        </p:spPr>
      </p:pic>
    </p:spTree>
    <p:extLst>
      <p:ext uri="{BB962C8B-B14F-4D97-AF65-F5344CB8AC3E}">
        <p14:creationId xmlns:p14="http://schemas.microsoft.com/office/powerpoint/2010/main" val="3837347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9995-148F-689F-0285-4BDF2BB63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93A48-4B15-85CE-21F4-91349F377452}"/>
              </a:ext>
            </a:extLst>
          </p:cNvPr>
          <p:cNvSpPr>
            <a:spLocks noGrp="1"/>
          </p:cNvSpPr>
          <p:nvPr>
            <p:ph type="title"/>
          </p:nvPr>
        </p:nvSpPr>
        <p:spPr>
          <a:xfrm>
            <a:off x="677334" y="609600"/>
            <a:ext cx="8596668" cy="823274"/>
          </a:xfrm>
        </p:spPr>
        <p:txBody>
          <a:bodyPr>
            <a:normAutofit/>
          </a:bodyPr>
          <a:lstStyle/>
          <a:p>
            <a:r>
              <a:rPr lang="en-IN" dirty="0"/>
              <a:t>customer distribution</a:t>
            </a:r>
          </a:p>
        </p:txBody>
      </p:sp>
      <p:sp>
        <p:nvSpPr>
          <p:cNvPr id="6" name="Content Placeholder 5">
            <a:extLst>
              <a:ext uri="{FF2B5EF4-FFF2-40B4-BE49-F238E27FC236}">
                <a16:creationId xmlns:a16="http://schemas.microsoft.com/office/drawing/2014/main" id="{80F94DAF-0AF1-E289-8FE5-D1A3E77CB660}"/>
              </a:ext>
            </a:extLst>
          </p:cNvPr>
          <p:cNvSpPr>
            <a:spLocks noGrp="1"/>
          </p:cNvSpPr>
          <p:nvPr>
            <p:ph idx="1"/>
          </p:nvPr>
        </p:nvSpPr>
        <p:spPr>
          <a:xfrm>
            <a:off x="1564849" y="4722829"/>
            <a:ext cx="8596668" cy="2045617"/>
          </a:xfrm>
        </p:spPr>
        <p:txBody>
          <a:bodyPr>
            <a:normAutofit/>
          </a:bodyPr>
          <a:lstStyle/>
          <a:p>
            <a:pPr marL="0" indent="0">
              <a:buNone/>
            </a:pPr>
            <a:r>
              <a:rPr lang="en-IN" dirty="0"/>
              <a:t>The majority of customers are concentrated in Asia, Africa, and South America, showing strong demand in these regions. Other regions have fewer customers, highlighting opportunities to expand reach and tailor services in underrepresented markets.</a:t>
            </a:r>
          </a:p>
        </p:txBody>
      </p:sp>
      <p:pic>
        <p:nvPicPr>
          <p:cNvPr id="4" name="Picture 3">
            <a:extLst>
              <a:ext uri="{FF2B5EF4-FFF2-40B4-BE49-F238E27FC236}">
                <a16:creationId xmlns:a16="http://schemas.microsoft.com/office/drawing/2014/main" id="{15203250-D253-3A00-55AF-D62B8BEBEBEA}"/>
              </a:ext>
            </a:extLst>
          </p:cNvPr>
          <p:cNvPicPr>
            <a:picLocks noChangeAspect="1"/>
          </p:cNvPicPr>
          <p:nvPr/>
        </p:nvPicPr>
        <p:blipFill>
          <a:blip r:embed="rId2"/>
          <a:stretch>
            <a:fillRect/>
          </a:stretch>
        </p:blipFill>
        <p:spPr>
          <a:xfrm>
            <a:off x="2457155" y="1658428"/>
            <a:ext cx="6335009" cy="2838846"/>
          </a:xfrm>
          <a:prstGeom prst="rect">
            <a:avLst/>
          </a:prstGeom>
        </p:spPr>
      </p:pic>
    </p:spTree>
    <p:extLst>
      <p:ext uri="{BB962C8B-B14F-4D97-AF65-F5344CB8AC3E}">
        <p14:creationId xmlns:p14="http://schemas.microsoft.com/office/powerpoint/2010/main" val="3309935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55225-C5B7-7BC4-8862-AB9DC4FEF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F2E1E-FED3-A572-F8EC-F5566183B86A}"/>
              </a:ext>
            </a:extLst>
          </p:cNvPr>
          <p:cNvSpPr>
            <a:spLocks noGrp="1"/>
          </p:cNvSpPr>
          <p:nvPr>
            <p:ph type="title"/>
          </p:nvPr>
        </p:nvSpPr>
        <p:spPr>
          <a:xfrm>
            <a:off x="677334" y="609600"/>
            <a:ext cx="8596668" cy="823274"/>
          </a:xfrm>
        </p:spPr>
        <p:txBody>
          <a:bodyPr/>
          <a:lstStyle/>
          <a:p>
            <a:r>
              <a:rPr lang="en-IN" dirty="0"/>
              <a:t>Special features split</a:t>
            </a:r>
          </a:p>
        </p:txBody>
      </p:sp>
      <p:sp>
        <p:nvSpPr>
          <p:cNvPr id="6" name="Content Placeholder 5">
            <a:extLst>
              <a:ext uri="{FF2B5EF4-FFF2-40B4-BE49-F238E27FC236}">
                <a16:creationId xmlns:a16="http://schemas.microsoft.com/office/drawing/2014/main" id="{BD884042-037D-5E86-207A-BCDC22734548}"/>
              </a:ext>
            </a:extLst>
          </p:cNvPr>
          <p:cNvSpPr>
            <a:spLocks noGrp="1"/>
          </p:cNvSpPr>
          <p:nvPr>
            <p:ph idx="1"/>
          </p:nvPr>
        </p:nvSpPr>
        <p:spPr>
          <a:xfrm>
            <a:off x="1564849" y="4722829"/>
            <a:ext cx="8596668" cy="2045617"/>
          </a:xfrm>
        </p:spPr>
        <p:txBody>
          <a:bodyPr>
            <a:normAutofit/>
          </a:bodyPr>
          <a:lstStyle/>
          <a:p>
            <a:pPr marL="0" indent="0">
              <a:buNone/>
            </a:pPr>
            <a:r>
              <a:rPr lang="en-IN" dirty="0"/>
              <a:t>Trailers and commentaries are the most accessed extras, indicating high customer interest. In contrast, Deleted Scenes and Behind-the-Scenes content are less popular. Focusing on high-demand extras can enhance engagement and drive additional rentals.</a:t>
            </a:r>
          </a:p>
        </p:txBody>
      </p:sp>
      <p:pic>
        <p:nvPicPr>
          <p:cNvPr id="4" name="Picture 3">
            <a:extLst>
              <a:ext uri="{FF2B5EF4-FFF2-40B4-BE49-F238E27FC236}">
                <a16:creationId xmlns:a16="http://schemas.microsoft.com/office/drawing/2014/main" id="{1B16BB69-2F57-F9BB-4419-44412794CFB1}"/>
              </a:ext>
            </a:extLst>
          </p:cNvPr>
          <p:cNvPicPr>
            <a:picLocks noChangeAspect="1"/>
          </p:cNvPicPr>
          <p:nvPr/>
        </p:nvPicPr>
        <p:blipFill>
          <a:blip r:embed="rId2"/>
          <a:stretch>
            <a:fillRect/>
          </a:stretch>
        </p:blipFill>
        <p:spPr>
          <a:xfrm>
            <a:off x="2503592" y="1782270"/>
            <a:ext cx="6468378" cy="2591162"/>
          </a:xfrm>
          <a:prstGeom prst="rect">
            <a:avLst/>
          </a:prstGeom>
        </p:spPr>
      </p:pic>
    </p:spTree>
    <p:extLst>
      <p:ext uri="{BB962C8B-B14F-4D97-AF65-F5344CB8AC3E}">
        <p14:creationId xmlns:p14="http://schemas.microsoft.com/office/powerpoint/2010/main" val="3886307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627E-3092-D208-AF5B-DBD0471FF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35205-79BF-EC98-D6AD-43386E528D9A}"/>
              </a:ext>
            </a:extLst>
          </p:cNvPr>
          <p:cNvSpPr>
            <a:spLocks noGrp="1"/>
          </p:cNvSpPr>
          <p:nvPr>
            <p:ph type="title"/>
          </p:nvPr>
        </p:nvSpPr>
        <p:spPr>
          <a:xfrm>
            <a:off x="677334" y="609600"/>
            <a:ext cx="8596668" cy="823274"/>
          </a:xfrm>
        </p:spPr>
        <p:txBody>
          <a:bodyPr/>
          <a:lstStyle/>
          <a:p>
            <a:r>
              <a:rPr lang="en-IN" dirty="0"/>
              <a:t>Active customers</a:t>
            </a:r>
          </a:p>
        </p:txBody>
      </p:sp>
      <p:sp>
        <p:nvSpPr>
          <p:cNvPr id="6" name="Content Placeholder 5">
            <a:extLst>
              <a:ext uri="{FF2B5EF4-FFF2-40B4-BE49-F238E27FC236}">
                <a16:creationId xmlns:a16="http://schemas.microsoft.com/office/drawing/2014/main" id="{85E8FA86-A10A-1A69-61B3-708C68242B3F}"/>
              </a:ext>
            </a:extLst>
          </p:cNvPr>
          <p:cNvSpPr>
            <a:spLocks noGrp="1"/>
          </p:cNvSpPr>
          <p:nvPr>
            <p:ph idx="1"/>
          </p:nvPr>
        </p:nvSpPr>
        <p:spPr>
          <a:xfrm>
            <a:off x="1564849" y="4722829"/>
            <a:ext cx="8596668" cy="2045617"/>
          </a:xfrm>
        </p:spPr>
        <p:txBody>
          <a:bodyPr>
            <a:normAutofit/>
          </a:bodyPr>
          <a:lstStyle/>
          <a:p>
            <a:pPr marL="0" indent="0">
              <a:buNone/>
            </a:pPr>
            <a:r>
              <a:rPr lang="en-IN" dirty="0"/>
              <a:t>Most customers are actively renting films, while only a small fraction remain inactive. This indicates a strong, engaged user base driving consistent rental activity.</a:t>
            </a:r>
          </a:p>
        </p:txBody>
      </p:sp>
      <p:pic>
        <p:nvPicPr>
          <p:cNvPr id="4" name="Picture 3">
            <a:extLst>
              <a:ext uri="{FF2B5EF4-FFF2-40B4-BE49-F238E27FC236}">
                <a16:creationId xmlns:a16="http://schemas.microsoft.com/office/drawing/2014/main" id="{E5A05C46-82F0-B5BF-9F01-994BB87EB0EF}"/>
              </a:ext>
            </a:extLst>
          </p:cNvPr>
          <p:cNvPicPr>
            <a:picLocks noChangeAspect="1"/>
          </p:cNvPicPr>
          <p:nvPr/>
        </p:nvPicPr>
        <p:blipFill>
          <a:blip r:embed="rId2"/>
          <a:stretch>
            <a:fillRect/>
          </a:stretch>
        </p:blipFill>
        <p:spPr>
          <a:xfrm>
            <a:off x="2588932" y="2135171"/>
            <a:ext cx="6373114" cy="1571844"/>
          </a:xfrm>
          <a:prstGeom prst="rect">
            <a:avLst/>
          </a:prstGeom>
        </p:spPr>
      </p:pic>
    </p:spTree>
    <p:extLst>
      <p:ext uri="{BB962C8B-B14F-4D97-AF65-F5344CB8AC3E}">
        <p14:creationId xmlns:p14="http://schemas.microsoft.com/office/powerpoint/2010/main" val="809270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6F7C1-EAC7-0A04-68BF-E5923F7D1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7B432-2543-2CB5-04DB-A0D6DE856C39}"/>
              </a:ext>
            </a:extLst>
          </p:cNvPr>
          <p:cNvSpPr>
            <a:spLocks noGrp="1"/>
          </p:cNvSpPr>
          <p:nvPr>
            <p:ph type="title"/>
          </p:nvPr>
        </p:nvSpPr>
        <p:spPr>
          <a:xfrm>
            <a:off x="677334" y="609600"/>
            <a:ext cx="8596668" cy="823274"/>
          </a:xfrm>
        </p:spPr>
        <p:txBody>
          <a:bodyPr/>
          <a:lstStyle/>
          <a:p>
            <a:r>
              <a:rPr lang="en-IN" dirty="0"/>
              <a:t>Store distribution</a:t>
            </a:r>
          </a:p>
        </p:txBody>
      </p:sp>
      <p:sp>
        <p:nvSpPr>
          <p:cNvPr id="6" name="Content Placeholder 5">
            <a:extLst>
              <a:ext uri="{FF2B5EF4-FFF2-40B4-BE49-F238E27FC236}">
                <a16:creationId xmlns:a16="http://schemas.microsoft.com/office/drawing/2014/main" id="{897711B6-5D7D-11C8-4ECA-6F947A319F76}"/>
              </a:ext>
            </a:extLst>
          </p:cNvPr>
          <p:cNvSpPr>
            <a:spLocks noGrp="1"/>
          </p:cNvSpPr>
          <p:nvPr>
            <p:ph idx="1"/>
          </p:nvPr>
        </p:nvSpPr>
        <p:spPr>
          <a:xfrm>
            <a:off x="1564849" y="4722829"/>
            <a:ext cx="8596668" cy="2045617"/>
          </a:xfrm>
        </p:spPr>
        <p:txBody>
          <a:bodyPr>
            <a:normAutofit/>
          </a:bodyPr>
          <a:lstStyle/>
          <a:p>
            <a:pPr marL="0" indent="0">
              <a:buNone/>
            </a:pPr>
            <a:r>
              <a:rPr lang="en-IN" dirty="0"/>
              <a:t>The stores are located in North America and Australia, covering key markets. Most customers are active, driving consistent rentals. Expanding to additional locations can capture more demand and further increase revenue across regions.</a:t>
            </a:r>
          </a:p>
        </p:txBody>
      </p:sp>
      <p:pic>
        <p:nvPicPr>
          <p:cNvPr id="4" name="Picture 3">
            <a:extLst>
              <a:ext uri="{FF2B5EF4-FFF2-40B4-BE49-F238E27FC236}">
                <a16:creationId xmlns:a16="http://schemas.microsoft.com/office/drawing/2014/main" id="{77AC1859-F024-DB25-1757-D70DC0595543}"/>
              </a:ext>
            </a:extLst>
          </p:cNvPr>
          <p:cNvPicPr>
            <a:picLocks noChangeAspect="1"/>
          </p:cNvPicPr>
          <p:nvPr/>
        </p:nvPicPr>
        <p:blipFill>
          <a:blip r:embed="rId2"/>
          <a:stretch>
            <a:fillRect/>
          </a:stretch>
        </p:blipFill>
        <p:spPr>
          <a:xfrm>
            <a:off x="2706119" y="1690657"/>
            <a:ext cx="6496957" cy="2534004"/>
          </a:xfrm>
          <a:prstGeom prst="rect">
            <a:avLst/>
          </a:prstGeom>
        </p:spPr>
      </p:pic>
    </p:spTree>
    <p:extLst>
      <p:ext uri="{BB962C8B-B14F-4D97-AF65-F5344CB8AC3E}">
        <p14:creationId xmlns:p14="http://schemas.microsoft.com/office/powerpoint/2010/main" val="4071783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96746-EA20-AF67-2BB1-7829F1565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5E009-D42B-30D6-248D-A179E59C13D1}"/>
              </a:ext>
            </a:extLst>
          </p:cNvPr>
          <p:cNvSpPr>
            <a:spLocks noGrp="1"/>
          </p:cNvSpPr>
          <p:nvPr>
            <p:ph type="title"/>
          </p:nvPr>
        </p:nvSpPr>
        <p:spPr>
          <a:xfrm>
            <a:off x="677334" y="609600"/>
            <a:ext cx="8596668" cy="823274"/>
          </a:xfrm>
        </p:spPr>
        <p:txBody>
          <a:bodyPr/>
          <a:lstStyle/>
          <a:p>
            <a:r>
              <a:rPr lang="en-IN" dirty="0"/>
              <a:t>Summary</a:t>
            </a:r>
          </a:p>
        </p:txBody>
      </p:sp>
      <p:sp>
        <p:nvSpPr>
          <p:cNvPr id="6" name="Content Placeholder 5">
            <a:extLst>
              <a:ext uri="{FF2B5EF4-FFF2-40B4-BE49-F238E27FC236}">
                <a16:creationId xmlns:a16="http://schemas.microsoft.com/office/drawing/2014/main" id="{7C50F3B5-5C60-9F07-B34C-DB07AB4D2254}"/>
              </a:ext>
            </a:extLst>
          </p:cNvPr>
          <p:cNvSpPr>
            <a:spLocks noGrp="1"/>
          </p:cNvSpPr>
          <p:nvPr>
            <p:ph idx="1"/>
          </p:nvPr>
        </p:nvSpPr>
        <p:spPr>
          <a:xfrm>
            <a:off x="1048706" y="1875934"/>
            <a:ext cx="7853924" cy="3817856"/>
          </a:xfrm>
        </p:spPr>
        <p:txBody>
          <a:bodyPr>
            <a:normAutofit/>
          </a:bodyPr>
          <a:lstStyle/>
          <a:p>
            <a:r>
              <a:rPr lang="en-IN" dirty="0"/>
              <a:t>Business performance is driven by popular films and frequent renters, with rental demand varying across locations. Mid-tier films and PG-14 titles dominate rentals, while staff rental durations are largely consistent across stores, supporting smooth operations. Peaks in rental activity occur seasonally, with Store 1 performing steadily and Store 2 showing location-specific variation.</a:t>
            </a:r>
          </a:p>
          <a:p>
            <a:r>
              <a:rPr lang="en-IN" dirty="0"/>
              <a:t>Focus on promoting top-rented films, improving engagement in underperforming locations, maintaining staff efficiency, and balancing inventory to drive overall rental growth.</a:t>
            </a:r>
          </a:p>
        </p:txBody>
      </p:sp>
    </p:spTree>
    <p:extLst>
      <p:ext uri="{BB962C8B-B14F-4D97-AF65-F5344CB8AC3E}">
        <p14:creationId xmlns:p14="http://schemas.microsoft.com/office/powerpoint/2010/main" val="1835679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F02C-769B-CF70-044A-D7BA02341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44584-92A5-9EE9-B7DD-E87057CE485B}"/>
              </a:ext>
            </a:extLst>
          </p:cNvPr>
          <p:cNvSpPr>
            <a:spLocks noGrp="1"/>
          </p:cNvSpPr>
          <p:nvPr>
            <p:ph type="title"/>
          </p:nvPr>
        </p:nvSpPr>
        <p:spPr>
          <a:xfrm>
            <a:off x="1008404" y="2400692"/>
            <a:ext cx="8596668" cy="823274"/>
          </a:xfrm>
        </p:spPr>
        <p:txBody>
          <a:bodyPr/>
          <a:lstStyle/>
          <a:p>
            <a:r>
              <a:rPr lang="en-IN" dirty="0"/>
              <a:t>Thank you</a:t>
            </a:r>
          </a:p>
        </p:txBody>
      </p:sp>
    </p:spTree>
    <p:extLst>
      <p:ext uri="{BB962C8B-B14F-4D97-AF65-F5344CB8AC3E}">
        <p14:creationId xmlns:p14="http://schemas.microsoft.com/office/powerpoint/2010/main" val="21154209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608</TotalTime>
  <Words>1673</Words>
  <Application>Microsoft Office PowerPoint</Application>
  <PresentationFormat>Widescreen</PresentationFormat>
  <Paragraphs>73</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Tw Cen MT</vt:lpstr>
      <vt:lpstr>Tw Cen MT Condensed</vt:lpstr>
      <vt:lpstr>Wingdings</vt:lpstr>
      <vt:lpstr>Wingdings 3</vt:lpstr>
      <vt:lpstr>Integral</vt:lpstr>
      <vt:lpstr>PowerPoint Presentation</vt:lpstr>
      <vt:lpstr>Introduction</vt:lpstr>
      <vt:lpstr>Data Cleaning</vt:lpstr>
      <vt:lpstr>ERD(Entity Relationship Diagram)</vt:lpstr>
      <vt:lpstr>Repeat Customers</vt:lpstr>
      <vt:lpstr>Top Rented Movie   Top Rented Movie   </vt:lpstr>
      <vt:lpstr>Staff-customer correlation</vt:lpstr>
      <vt:lpstr>Seasonal Trends</vt:lpstr>
      <vt:lpstr>Language wise Distribution</vt:lpstr>
      <vt:lpstr>Overall Sales revenue</vt:lpstr>
      <vt:lpstr>Staff performance </vt:lpstr>
      <vt:lpstr>High spend customer analysis</vt:lpstr>
      <vt:lpstr>Inventory Level</vt:lpstr>
      <vt:lpstr>Peak hours of Store</vt:lpstr>
      <vt:lpstr>Language Distribution</vt:lpstr>
      <vt:lpstr>Customer Preference</vt:lpstr>
      <vt:lpstr>Sales Revenue by Month</vt:lpstr>
      <vt:lpstr>Average Rental Duration by Staff</vt:lpstr>
      <vt:lpstr>Customer Segment Revenue</vt:lpstr>
      <vt:lpstr>Distribution of films by rental duration</vt:lpstr>
      <vt:lpstr>Inventory distribution by rating</vt:lpstr>
      <vt:lpstr>store performance by country</vt:lpstr>
      <vt:lpstr>Customer distribution by city</vt:lpstr>
      <vt:lpstr>Top category</vt:lpstr>
      <vt:lpstr>rental revenue by country</vt:lpstr>
      <vt:lpstr>Average rental duration for category</vt:lpstr>
      <vt:lpstr>Percentage of sales by category</vt:lpstr>
      <vt:lpstr>store revenue </vt:lpstr>
      <vt:lpstr>revenue by film rating</vt:lpstr>
      <vt:lpstr>Customer purchase by category</vt:lpstr>
      <vt:lpstr>customer distribution</vt:lpstr>
      <vt:lpstr>Special features split</vt:lpstr>
      <vt:lpstr>Active customers</vt:lpstr>
      <vt:lpstr>Store distribution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 Haran</dc:creator>
  <cp:lastModifiedBy>Hari Haran</cp:lastModifiedBy>
  <cp:revision>14</cp:revision>
  <dcterms:created xsi:type="dcterms:W3CDTF">2026-03-28T16:06:34Z</dcterms:created>
  <dcterms:modified xsi:type="dcterms:W3CDTF">2026-04-05T11:11:24Z</dcterms:modified>
</cp:coreProperties>
</file>